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Futura" panose="020B0604020202020204" charset="0"/>
      <p:regular r:id="rId19"/>
    </p:embeddedFont>
    <p:embeddedFont>
      <p:font typeface="Futura Bold" panose="020B0604020202020204" charset="0"/>
      <p:regular r:id="rId20"/>
    </p:embeddedFont>
    <p:embeddedFont>
      <p:font typeface="Futura Italics" panose="020B0604020202020204" charset="0"/>
      <p:regular r:id="rId21"/>
    </p:embeddedFont>
    <p:embeddedFont>
      <p:font typeface="Oswald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766" y="1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0:00-0:20 - Introduce yourself and the topic in one sentence.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0:20-1:15 - Background: tourism growth, importance of reviews, why ordinal data needs careful handling.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1:15-2:15 - Explain the research problem and gap concisely - summarise each card in one sentence, don't read verbatim.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2:15-3:15 - State the 3 research questions and objectives briefly - these set up everything that follows.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3:15-4:15 - Explain data source, sample size, and preprocessing steps quickly.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4:15-5:45 - Walk through the conceptual framework left to right - this is your methodology in one picture.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5:45-7:15 - Briefly explain what each of the 3 distances does differently - keep it conceptual, not mathematical.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7:15-8:15 - Quick EDA highlights - don't dwell, just set context for the results.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8:15-9:45 - THIS IS A KEY SLIDE - explain why GDM2 won and what the Silhouette Score means practically.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9:45-10:45 - Introduce the two segments in plain language - Highly Satisfied vs Moderately Satisfied.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10:45-12:15 - Explain the Top-Box gap table - which features matter most for service improvement.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12:15-13:45 - Explain Kruskal-Wallis findings - emphasise effect size, not just p-values.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13:45-14:15 - Discussion - tie findings back to theory in 2-3 sentences.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14:15-14:45 - Recommendations - state clearly and confidently.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14:45-15:00 - Conclusion - close strong, then invite questions.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5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163273" y="-464577"/>
            <a:ext cx="18283428" cy="10287000"/>
            <a:chOff x="0" y="0"/>
            <a:chExt cx="24377904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13716000"/>
            </a:xfrm>
            <a:custGeom>
              <a:avLst/>
              <a:gdLst/>
              <a:ahLst/>
              <a:cxnLst/>
              <a:rect l="l" t="t" r="r" b="b"/>
              <a:pathLst>
                <a:path w="24377904" h="13716000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5A48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-508849" y="7656297"/>
            <a:ext cx="5161998" cy="2735859"/>
          </a:xfrm>
          <a:custGeom>
            <a:avLst/>
            <a:gdLst/>
            <a:ahLst/>
            <a:cxnLst/>
            <a:rect l="l" t="t" r="r" b="b"/>
            <a:pathLst>
              <a:path w="5161998" h="2735859">
                <a:moveTo>
                  <a:pt x="0" y="0"/>
                </a:moveTo>
                <a:lnTo>
                  <a:pt x="5161998" y="0"/>
                </a:lnTo>
                <a:lnTo>
                  <a:pt x="5161998" y="2735859"/>
                </a:lnTo>
                <a:lnTo>
                  <a:pt x="0" y="2735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45920" y="5248275"/>
            <a:ext cx="14996160" cy="782408"/>
            <a:chOff x="0" y="0"/>
            <a:chExt cx="21031200" cy="10972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097280"/>
            </a:xfrm>
            <a:custGeom>
              <a:avLst/>
              <a:gdLst/>
              <a:ahLst/>
              <a:cxnLst/>
              <a:rect l="l" t="t" r="r" b="b"/>
              <a:pathLst>
                <a:path w="21031200" h="109728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3463" b="-32346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03120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>
                  <a:solidFill>
                    <a:srgbClr val="CFE3EA"/>
                  </a:solidFill>
                  <a:latin typeface="Futura"/>
                  <a:ea typeface="Futura"/>
                  <a:cs typeface="Futura"/>
                  <a:sym typeface="Futura"/>
                </a:rPr>
                <a:t>Segmenting Hotel Guests Based on Service Feature Perceptions in Sri Lanka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802016" y="9258300"/>
            <a:ext cx="10972800" cy="548640"/>
            <a:chOff x="0" y="0"/>
            <a:chExt cx="1463040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463040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Vestika Weerachandra   |   COHNDDS241P-003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88720" y="3465195"/>
            <a:ext cx="15864840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510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A Comparative Analysis of Distance Measures for Ordinal Data in K-Medoids Clustering</a:t>
            </a:r>
          </a:p>
        </p:txBody>
      </p:sp>
      <p:sp>
        <p:nvSpPr>
          <p:cNvPr id="12" name="Freeform 12"/>
          <p:cNvSpPr/>
          <p:nvPr/>
        </p:nvSpPr>
        <p:spPr>
          <a:xfrm flipH="1" flipV="1">
            <a:off x="12535375" y="0"/>
            <a:ext cx="5752625" cy="3048891"/>
          </a:xfrm>
          <a:custGeom>
            <a:avLst/>
            <a:gdLst/>
            <a:ahLst/>
            <a:cxnLst/>
            <a:rect l="l" t="t" r="r" b="b"/>
            <a:pathLst>
              <a:path w="5752625" h="3048891">
                <a:moveTo>
                  <a:pt x="5752625" y="3048891"/>
                </a:moveTo>
                <a:lnTo>
                  <a:pt x="0" y="3048891"/>
                </a:lnTo>
                <a:lnTo>
                  <a:pt x="0" y="0"/>
                </a:lnTo>
                <a:lnTo>
                  <a:pt x="5752625" y="0"/>
                </a:lnTo>
                <a:lnTo>
                  <a:pt x="5752625" y="3048891"/>
                </a:lnTo>
                <a:close/>
              </a:path>
            </a:pathLst>
          </a:custGeom>
          <a:blipFill>
            <a:blip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48640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2E7D5B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INTRODUCTION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028700"/>
            <a:ext cx="15773400" cy="1234440"/>
            <a:chOff x="0" y="0"/>
            <a:chExt cx="2103120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645920"/>
            </a:xfrm>
            <a:custGeom>
              <a:avLst/>
              <a:gdLst/>
              <a:ahLst/>
              <a:cxnLst/>
              <a:rect l="l" t="t" r="r" b="b"/>
              <a:pathLst>
                <a:path w="21031200" h="164592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03120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Background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606040"/>
            <a:ext cx="9875520" cy="6309360"/>
            <a:chOff x="0" y="0"/>
            <a:chExt cx="13167360" cy="84124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167361" cy="8412480"/>
            </a:xfrm>
            <a:custGeom>
              <a:avLst/>
              <a:gdLst/>
              <a:ahLst/>
              <a:cxnLst/>
              <a:rect l="l" t="t" r="r" b="b"/>
              <a:pathLst>
                <a:path w="13167361" h="8412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021056" y="0"/>
                  </a:lnTo>
                  <a:cubicBezTo>
                    <a:pt x="13101828" y="0"/>
                    <a:pt x="13167361" y="65532"/>
                    <a:pt x="13167361" y="146304"/>
                  </a:cubicBezTo>
                  <a:lnTo>
                    <a:pt x="13167361" y="8266176"/>
                  </a:lnTo>
                  <a:cubicBezTo>
                    <a:pt x="13167361" y="8346948"/>
                    <a:pt x="13101828" y="8412480"/>
                    <a:pt x="1302105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2889885"/>
            <a:ext cx="9372600" cy="56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2341" dirty="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Sri Lanka's tourism industry is a major contributor to GDP, foreign exchange, and employment, with tourist arrivals recovering strongly through 2024-2025.</a:t>
            </a:r>
          </a:p>
          <a:p>
            <a:pPr algn="l">
              <a:lnSpc>
                <a:spcPts val="3434"/>
              </a:lnSpc>
            </a:pPr>
            <a:endParaRPr lang="en-US" sz="2341" dirty="0">
              <a:solidFill>
                <a:srgbClr val="1A1A1A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l">
              <a:lnSpc>
                <a:spcPts val="3434"/>
              </a:lnSpc>
            </a:pPr>
            <a:endParaRPr lang="en-US" sz="2341" dirty="0">
              <a:solidFill>
                <a:srgbClr val="1A1A1A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l">
              <a:lnSpc>
                <a:spcPts val="3434"/>
              </a:lnSpc>
            </a:pPr>
            <a:r>
              <a:rPr lang="en-US" sz="2341" dirty="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Online customer reviews have become a key source for understanding </a:t>
            </a:r>
            <a:r>
              <a:rPr lang="en-US" sz="2341" dirty="0" err="1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traveller</a:t>
            </a:r>
            <a:r>
              <a:rPr lang="en-US" sz="2341" dirty="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 preferences and satisfaction.</a:t>
            </a:r>
          </a:p>
          <a:p>
            <a:pPr algn="l">
              <a:lnSpc>
                <a:spcPts val="3434"/>
              </a:lnSpc>
            </a:pPr>
            <a:endParaRPr lang="en-US" sz="2341" dirty="0">
              <a:solidFill>
                <a:srgbClr val="1A1A1A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l">
              <a:lnSpc>
                <a:spcPts val="3434"/>
              </a:lnSpc>
            </a:pPr>
            <a:endParaRPr lang="en-US" sz="2341" dirty="0">
              <a:solidFill>
                <a:srgbClr val="1A1A1A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l">
              <a:lnSpc>
                <a:spcPts val="3434"/>
              </a:lnSpc>
            </a:pPr>
            <a:r>
              <a:rPr lang="en-US" sz="2341" dirty="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Machine learning enables large-scale analysis of this feedback, but ordinal rating data (Unacceptable to Excellent) requires clustering methods and distance measures that respect category order, not just magnitude.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247120" y="2743200"/>
            <a:ext cx="6172200" cy="1851660"/>
            <a:chOff x="0" y="0"/>
            <a:chExt cx="8229600" cy="24688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29600" cy="2468880"/>
            </a:xfrm>
            <a:custGeom>
              <a:avLst/>
              <a:gdLst/>
              <a:ahLst/>
              <a:cxnLst/>
              <a:rect l="l" t="t" r="r" b="b"/>
              <a:pathLst>
                <a:path w="8229600" h="246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083296" y="0"/>
                  </a:lnTo>
                  <a:cubicBezTo>
                    <a:pt x="8164068" y="0"/>
                    <a:pt x="8229600" y="65532"/>
                    <a:pt x="8229600" y="146304"/>
                  </a:cubicBezTo>
                  <a:lnTo>
                    <a:pt x="8229600" y="2322576"/>
                  </a:lnTo>
                  <a:cubicBezTo>
                    <a:pt x="8229600" y="2403348"/>
                    <a:pt x="8164068" y="2468880"/>
                    <a:pt x="808329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1521440" y="2907792"/>
            <a:ext cx="2743200" cy="1371600"/>
            <a:chOff x="0" y="0"/>
            <a:chExt cx="3657600" cy="1828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3657600" cy="1838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3,230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127480" y="3223260"/>
            <a:ext cx="3154680" cy="822960"/>
            <a:chOff x="0" y="0"/>
            <a:chExt cx="4206240" cy="10972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206240" cy="1097280"/>
            </a:xfrm>
            <a:custGeom>
              <a:avLst/>
              <a:gdLst/>
              <a:ahLst/>
              <a:cxnLst/>
              <a:rect l="l" t="t" r="r" b="b"/>
              <a:pathLst>
                <a:path w="4206240" h="1097280">
                  <a:moveTo>
                    <a:pt x="0" y="0"/>
                  </a:moveTo>
                  <a:lnTo>
                    <a:pt x="4206240" y="0"/>
                  </a:lnTo>
                  <a:lnTo>
                    <a:pt x="4206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692" b="-2469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20624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FE3EA"/>
                  </a:solidFill>
                  <a:latin typeface="Futura"/>
                  <a:ea typeface="Futura"/>
                  <a:cs typeface="Futura"/>
                  <a:sym typeface="Futura"/>
                </a:rPr>
                <a:t>Customer Reviews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247120" y="4937760"/>
            <a:ext cx="6172200" cy="1851660"/>
            <a:chOff x="0" y="0"/>
            <a:chExt cx="8229600" cy="24688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229600" cy="2468880"/>
            </a:xfrm>
            <a:custGeom>
              <a:avLst/>
              <a:gdLst/>
              <a:ahLst/>
              <a:cxnLst/>
              <a:rect l="l" t="t" r="r" b="b"/>
              <a:pathLst>
                <a:path w="8229600" h="246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083296" y="0"/>
                  </a:lnTo>
                  <a:cubicBezTo>
                    <a:pt x="8164068" y="0"/>
                    <a:pt x="8229600" y="65532"/>
                    <a:pt x="8229600" y="146304"/>
                  </a:cubicBezTo>
                  <a:lnTo>
                    <a:pt x="8229600" y="2322576"/>
                  </a:lnTo>
                  <a:cubicBezTo>
                    <a:pt x="8229600" y="2403348"/>
                    <a:pt x="8164068" y="2468880"/>
                    <a:pt x="808329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1521440" y="5102352"/>
            <a:ext cx="2743200" cy="1371600"/>
            <a:chOff x="0" y="0"/>
            <a:chExt cx="3657600" cy="1828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3657600" cy="1838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161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27480" y="5417820"/>
            <a:ext cx="3154680" cy="822960"/>
            <a:chOff x="0" y="0"/>
            <a:chExt cx="4206240" cy="10972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206240" cy="1097280"/>
            </a:xfrm>
            <a:custGeom>
              <a:avLst/>
              <a:gdLst/>
              <a:ahLst/>
              <a:cxnLst/>
              <a:rect l="l" t="t" r="r" b="b"/>
              <a:pathLst>
                <a:path w="4206240" h="1097280">
                  <a:moveTo>
                    <a:pt x="0" y="0"/>
                  </a:moveTo>
                  <a:lnTo>
                    <a:pt x="4206240" y="0"/>
                  </a:lnTo>
                  <a:lnTo>
                    <a:pt x="4206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692" b="-24692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20624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FE3EA"/>
                  </a:solidFill>
                  <a:latin typeface="Futura"/>
                  <a:ea typeface="Futura"/>
                  <a:cs typeface="Futura"/>
                  <a:sym typeface="Futura"/>
                </a:rPr>
                <a:t>Hotels Covered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247120" y="7132320"/>
            <a:ext cx="6172200" cy="1851660"/>
            <a:chOff x="0" y="0"/>
            <a:chExt cx="8229600" cy="24688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229600" cy="2468880"/>
            </a:xfrm>
            <a:custGeom>
              <a:avLst/>
              <a:gdLst/>
              <a:ahLst/>
              <a:cxnLst/>
              <a:rect l="l" t="t" r="r" b="b"/>
              <a:pathLst>
                <a:path w="8229600" h="246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083296" y="0"/>
                  </a:lnTo>
                  <a:cubicBezTo>
                    <a:pt x="8164068" y="0"/>
                    <a:pt x="8229600" y="65532"/>
                    <a:pt x="8229600" y="146304"/>
                  </a:cubicBezTo>
                  <a:lnTo>
                    <a:pt x="8229600" y="2322576"/>
                  </a:lnTo>
                  <a:cubicBezTo>
                    <a:pt x="8229600" y="2403348"/>
                    <a:pt x="8164068" y="2468880"/>
                    <a:pt x="808329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1521440" y="7296912"/>
            <a:ext cx="2743200" cy="1371600"/>
            <a:chOff x="0" y="0"/>
            <a:chExt cx="3657600" cy="1828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657600" cy="1828800"/>
            </a:xfrm>
            <a:custGeom>
              <a:avLst/>
              <a:gdLst/>
              <a:ahLst/>
              <a:cxnLst/>
              <a:rect l="l" t="t" r="r" b="b"/>
              <a:pathLst>
                <a:path w="3657600" h="18288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3657600" cy="1838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12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127480" y="7612380"/>
            <a:ext cx="3154680" cy="822960"/>
            <a:chOff x="0" y="0"/>
            <a:chExt cx="4206240" cy="10972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206240" cy="1097280"/>
            </a:xfrm>
            <a:custGeom>
              <a:avLst/>
              <a:gdLst/>
              <a:ahLst/>
              <a:cxnLst/>
              <a:rect l="l" t="t" r="r" b="b"/>
              <a:pathLst>
                <a:path w="4206240" h="1097280">
                  <a:moveTo>
                    <a:pt x="0" y="0"/>
                  </a:moveTo>
                  <a:lnTo>
                    <a:pt x="4206240" y="0"/>
                  </a:lnTo>
                  <a:lnTo>
                    <a:pt x="4206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692" b="-2469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20624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FE3EA"/>
                  </a:solidFill>
                  <a:latin typeface="Futura"/>
                  <a:ea typeface="Futura"/>
                  <a:cs typeface="Futura"/>
                  <a:sym typeface="Futura"/>
                </a:rPr>
                <a:t>Nationalities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282160" y="9806940"/>
            <a:ext cx="685800" cy="411480"/>
            <a:chOff x="0" y="0"/>
            <a:chExt cx="914400" cy="5486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48640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2E7D5B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INTRODUCTION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028700"/>
            <a:ext cx="15773400" cy="1234440"/>
            <a:chOff x="0" y="0"/>
            <a:chExt cx="2103120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645920"/>
            </a:xfrm>
            <a:custGeom>
              <a:avLst/>
              <a:gdLst/>
              <a:ahLst/>
              <a:cxnLst/>
              <a:rect l="l" t="t" r="r" b="b"/>
              <a:pathLst>
                <a:path w="21031200" h="164592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03120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Research Problem &amp; Gap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" y="2419350"/>
            <a:ext cx="16002000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Ordinal service ratings are frequently clustered using distance measures (e.g. Euclidean) that assume evenly-spaced, interval-scaled data. It is an assumption that does not hold for ordinal categories.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13435" y="4242435"/>
            <a:ext cx="5436870" cy="4545330"/>
            <a:chOff x="0" y="0"/>
            <a:chExt cx="7249160" cy="60604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49160" cy="6060440"/>
            </a:xfrm>
            <a:custGeom>
              <a:avLst/>
              <a:gdLst/>
              <a:ahLst/>
              <a:cxnLst/>
              <a:rect l="l" t="t" r="r" b="b"/>
              <a:pathLst>
                <a:path w="7249160" h="606044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7102221" y="0"/>
                  </a:lnTo>
                  <a:cubicBezTo>
                    <a:pt x="7183374" y="0"/>
                    <a:pt x="7249160" y="65786"/>
                    <a:pt x="7249160" y="146939"/>
                  </a:cubicBezTo>
                  <a:lnTo>
                    <a:pt x="7249160" y="5913501"/>
                  </a:lnTo>
                  <a:cubicBezTo>
                    <a:pt x="7249160" y="5994654"/>
                    <a:pt x="7183374" y="6060440"/>
                    <a:pt x="7102221" y="6060440"/>
                  </a:cubicBezTo>
                  <a:lnTo>
                    <a:pt x="146939" y="6060440"/>
                  </a:lnTo>
                  <a:cubicBezTo>
                    <a:pt x="65786" y="6060440"/>
                    <a:pt x="0" y="5994654"/>
                    <a:pt x="0" y="5913501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CFE3EA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34440" y="4663440"/>
            <a:ext cx="754380" cy="754380"/>
            <a:chOff x="0" y="0"/>
            <a:chExt cx="1005840" cy="10058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234440" y="5692140"/>
            <a:ext cx="4663440" cy="685800"/>
            <a:chOff x="0" y="0"/>
            <a:chExt cx="6217920" cy="914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17920" cy="914400"/>
            </a:xfrm>
            <a:custGeom>
              <a:avLst/>
              <a:gdLst/>
              <a:ahLst/>
              <a:cxnLst/>
              <a:rect l="l" t="t" r="r" b="b"/>
              <a:pathLst>
                <a:path w="6217920" h="91440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498" b="-8249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621792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Limited Research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25880" y="6347460"/>
            <a:ext cx="4480560" cy="1059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95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Few studies examine structured, ordinal hotel service data specifically within Sri Lanka's hospitality sector.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505575" y="4242435"/>
            <a:ext cx="5436870" cy="4545330"/>
            <a:chOff x="0" y="0"/>
            <a:chExt cx="7249160" cy="60604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49160" cy="6060440"/>
            </a:xfrm>
            <a:custGeom>
              <a:avLst/>
              <a:gdLst/>
              <a:ahLst/>
              <a:cxnLst/>
              <a:rect l="l" t="t" r="r" b="b"/>
              <a:pathLst>
                <a:path w="7249160" h="606044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7102221" y="0"/>
                  </a:lnTo>
                  <a:cubicBezTo>
                    <a:pt x="7183374" y="0"/>
                    <a:pt x="7249160" y="65786"/>
                    <a:pt x="7249160" y="146939"/>
                  </a:cubicBezTo>
                  <a:lnTo>
                    <a:pt x="7249160" y="5913501"/>
                  </a:lnTo>
                  <a:cubicBezTo>
                    <a:pt x="7249160" y="5994654"/>
                    <a:pt x="7183374" y="6060440"/>
                    <a:pt x="7102221" y="6060440"/>
                  </a:cubicBezTo>
                  <a:lnTo>
                    <a:pt x="146939" y="6060440"/>
                  </a:lnTo>
                  <a:cubicBezTo>
                    <a:pt x="65786" y="6060440"/>
                    <a:pt x="0" y="5994654"/>
                    <a:pt x="0" y="5913501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CFE3EA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926580" y="4663440"/>
            <a:ext cx="754380" cy="754380"/>
            <a:chOff x="0" y="0"/>
            <a:chExt cx="1005840" cy="10058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6926580" y="5692140"/>
            <a:ext cx="4663440" cy="685800"/>
            <a:chOff x="0" y="0"/>
            <a:chExt cx="621792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217920" cy="914400"/>
            </a:xfrm>
            <a:custGeom>
              <a:avLst/>
              <a:gdLst/>
              <a:ahLst/>
              <a:cxnLst/>
              <a:rect l="l" t="t" r="r" b="b"/>
              <a:pathLst>
                <a:path w="6217920" h="91440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498" b="-82498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621792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Distance Measure Gap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018020" y="6347460"/>
            <a:ext cx="4480560" cy="140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95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Little empirical comparison exists between ordinal-appropriate distance measures (Gower, Podani, GDM2) on real hospitality data.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197715" y="4242435"/>
            <a:ext cx="5436870" cy="4545330"/>
            <a:chOff x="0" y="0"/>
            <a:chExt cx="7249160" cy="60604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249160" cy="6060440"/>
            </a:xfrm>
            <a:custGeom>
              <a:avLst/>
              <a:gdLst/>
              <a:ahLst/>
              <a:cxnLst/>
              <a:rect l="l" t="t" r="r" b="b"/>
              <a:pathLst>
                <a:path w="7249160" h="606044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7102221" y="0"/>
                  </a:lnTo>
                  <a:cubicBezTo>
                    <a:pt x="7183374" y="0"/>
                    <a:pt x="7249160" y="65786"/>
                    <a:pt x="7249160" y="146939"/>
                  </a:cubicBezTo>
                  <a:lnTo>
                    <a:pt x="7249160" y="5913501"/>
                  </a:lnTo>
                  <a:cubicBezTo>
                    <a:pt x="7249160" y="5994654"/>
                    <a:pt x="7183374" y="6060440"/>
                    <a:pt x="7102221" y="6060440"/>
                  </a:cubicBezTo>
                  <a:lnTo>
                    <a:pt x="146939" y="6060440"/>
                  </a:lnTo>
                  <a:cubicBezTo>
                    <a:pt x="65786" y="6060440"/>
                    <a:pt x="0" y="5994654"/>
                    <a:pt x="0" y="5913501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CFE3EA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618720" y="4663440"/>
            <a:ext cx="754380" cy="754380"/>
            <a:chOff x="0" y="0"/>
            <a:chExt cx="1005840" cy="10058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2618720" y="5692140"/>
            <a:ext cx="4663440" cy="685800"/>
            <a:chOff x="0" y="0"/>
            <a:chExt cx="6217920" cy="914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217920" cy="914400"/>
            </a:xfrm>
            <a:custGeom>
              <a:avLst/>
              <a:gdLst/>
              <a:ahLst/>
              <a:cxnLst/>
              <a:rect l="l" t="t" r="r" b="b"/>
              <a:pathLst>
                <a:path w="6217920" h="91440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498" b="-8249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621792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Practical Need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710160" y="6347460"/>
            <a:ext cx="4480560" cy="1059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95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Businesses need a reliable, statistically valid way to segment guests by service perception to prioritise improvements.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7282160" y="9806940"/>
            <a:ext cx="685800" cy="411480"/>
            <a:chOff x="0" y="0"/>
            <a:chExt cx="914400" cy="5486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48640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2E7D5B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INTRODUCTION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028700"/>
            <a:ext cx="15773400" cy="1234440"/>
            <a:chOff x="0" y="0"/>
            <a:chExt cx="2103120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645920"/>
            </a:xfrm>
            <a:custGeom>
              <a:avLst/>
              <a:gdLst/>
              <a:ahLst/>
              <a:cxnLst/>
              <a:rect l="l" t="t" r="r" b="b"/>
              <a:pathLst>
                <a:path w="21031200" h="164592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03120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Research Questions &amp; Objectives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468880"/>
            <a:ext cx="8092440" cy="6720840"/>
            <a:chOff x="0" y="0"/>
            <a:chExt cx="10789920" cy="8961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89920" cy="8961120"/>
            </a:xfrm>
            <a:custGeom>
              <a:avLst/>
              <a:gdLst/>
              <a:ahLst/>
              <a:cxnLst/>
              <a:rect l="l" t="t" r="r" b="b"/>
              <a:pathLst>
                <a:path w="10789920" h="8961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8814816"/>
                  </a:lnTo>
                  <a:cubicBezTo>
                    <a:pt x="10789920" y="8895588"/>
                    <a:pt x="10724388" y="8961120"/>
                    <a:pt x="10643616" y="8961120"/>
                  </a:cubicBezTo>
                  <a:lnTo>
                    <a:pt x="146304" y="8961120"/>
                  </a:lnTo>
                  <a:cubicBezTo>
                    <a:pt x="65532" y="8961120"/>
                    <a:pt x="0" y="8895588"/>
                    <a:pt x="0" y="8814816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34440" y="2743200"/>
            <a:ext cx="7269480" cy="650291"/>
            <a:chOff x="0" y="0"/>
            <a:chExt cx="9692640" cy="86705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92640" cy="867054"/>
            </a:xfrm>
            <a:custGeom>
              <a:avLst/>
              <a:gdLst/>
              <a:ahLst/>
              <a:cxnLst/>
              <a:rect l="l" t="t" r="r" b="b"/>
              <a:pathLst>
                <a:path w="9692640" h="867054">
                  <a:moveTo>
                    <a:pt x="0" y="0"/>
                  </a:moveTo>
                  <a:lnTo>
                    <a:pt x="9692640" y="0"/>
                  </a:lnTo>
                  <a:lnTo>
                    <a:pt x="9692640" y="867054"/>
                  </a:lnTo>
                  <a:lnTo>
                    <a:pt x="0" y="8670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2" b="-165276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9692640" cy="8670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Research Questions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56563" y="3667811"/>
            <a:ext cx="7086600" cy="2253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048" lvl="1" indent="-190024" algn="l">
              <a:lnSpc>
                <a:spcPts val="2999"/>
              </a:lnSpc>
              <a:buFont typeface="Arial"/>
              <a:buChar char="•"/>
            </a:pPr>
            <a:r>
              <a:rPr lang="en-US" sz="2100" dirty="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How can customers be segmented using K-Medoids clustering on ordinal service ratings?</a:t>
            </a:r>
          </a:p>
          <a:p>
            <a:pPr marL="380048" lvl="1" indent="-190024" algn="l">
              <a:lnSpc>
                <a:spcPts val="2999"/>
              </a:lnSpc>
              <a:buFont typeface="Arial"/>
              <a:buChar char="•"/>
            </a:pPr>
            <a:r>
              <a:rPr lang="en-US" sz="2100" dirty="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Which distance measure - Gower, Podani, or GDM2 - produces the most valid, interpretable segments?</a:t>
            </a:r>
          </a:p>
          <a:p>
            <a:pPr marL="380048" lvl="1" indent="-190024" algn="l">
              <a:lnSpc>
                <a:spcPts val="2999"/>
              </a:lnSpc>
              <a:buFont typeface="Arial"/>
              <a:buChar char="•"/>
            </a:pPr>
            <a:r>
              <a:rPr lang="en-US" sz="2100" dirty="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Do the identified segments differ significantly in their service feature perceptions?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17355" y="2459355"/>
            <a:ext cx="8111490" cy="6739890"/>
            <a:chOff x="0" y="0"/>
            <a:chExt cx="10815320" cy="8986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815320" cy="8986520"/>
            </a:xfrm>
            <a:custGeom>
              <a:avLst/>
              <a:gdLst/>
              <a:ahLst/>
              <a:cxnLst/>
              <a:rect l="l" t="t" r="r" b="b"/>
              <a:pathLst>
                <a:path w="10815320" h="898652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0668508" y="0"/>
                  </a:lnTo>
                  <a:cubicBezTo>
                    <a:pt x="10749534" y="0"/>
                    <a:pt x="10815320" y="65659"/>
                    <a:pt x="10815320" y="146812"/>
                  </a:cubicBezTo>
                  <a:lnTo>
                    <a:pt x="10815320" y="8839708"/>
                  </a:lnTo>
                  <a:cubicBezTo>
                    <a:pt x="10815320" y="8920734"/>
                    <a:pt x="10749661" y="8986520"/>
                    <a:pt x="10668508" y="8986520"/>
                  </a:cubicBezTo>
                  <a:lnTo>
                    <a:pt x="146812" y="8986520"/>
                  </a:lnTo>
                  <a:cubicBezTo>
                    <a:pt x="65659" y="8986520"/>
                    <a:pt x="0" y="8920861"/>
                    <a:pt x="0" y="8839708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CFE3EA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738360" y="2743200"/>
            <a:ext cx="7269480" cy="650291"/>
            <a:chOff x="0" y="0"/>
            <a:chExt cx="9692640" cy="86705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692640" cy="867054"/>
            </a:xfrm>
            <a:custGeom>
              <a:avLst/>
              <a:gdLst/>
              <a:ahLst/>
              <a:cxnLst/>
              <a:rect l="l" t="t" r="r" b="b"/>
              <a:pathLst>
                <a:path w="9692640" h="867054">
                  <a:moveTo>
                    <a:pt x="0" y="0"/>
                  </a:moveTo>
                  <a:lnTo>
                    <a:pt x="9692640" y="0"/>
                  </a:lnTo>
                  <a:lnTo>
                    <a:pt x="9692640" y="867054"/>
                  </a:lnTo>
                  <a:lnTo>
                    <a:pt x="0" y="8670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2" b="-165276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9692640" cy="8670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Objectives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829800" y="3677336"/>
            <a:ext cx="7086600" cy="2253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048" lvl="1" indent="-190024" algn="l">
              <a:lnSpc>
                <a:spcPts val="2999"/>
              </a:lnSpc>
              <a:buFont typeface="Arial"/>
              <a:buChar char="•"/>
            </a:pPr>
            <a:r>
              <a:rPr lang="en-US" sz="2100" dirty="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Apply K-Medoids clustering using three ordinal-appropriate distance measures.</a:t>
            </a:r>
          </a:p>
          <a:p>
            <a:pPr marL="380048" lvl="1" indent="-190024" algn="l">
              <a:lnSpc>
                <a:spcPts val="2999"/>
              </a:lnSpc>
              <a:buFont typeface="Arial"/>
              <a:buChar char="•"/>
            </a:pPr>
            <a:r>
              <a:rPr lang="en-US" sz="2100" dirty="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Compare distance measures using Silhouette Score and Davies-Bouldin Index.</a:t>
            </a:r>
          </a:p>
          <a:p>
            <a:pPr marL="380048" lvl="1" indent="-190024" algn="l">
              <a:lnSpc>
                <a:spcPts val="2999"/>
              </a:lnSpc>
              <a:buFont typeface="Arial"/>
              <a:buChar char="•"/>
            </a:pPr>
            <a:r>
              <a:rPr lang="en-US" sz="2100" dirty="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Apply the Kruskal-Wallis test to confirm significant differences between segments.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7282160" y="9806940"/>
            <a:ext cx="685800" cy="411480"/>
            <a:chOff x="0" y="0"/>
            <a:chExt cx="914400" cy="5486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48640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2E7D5B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METHODOLOGY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028700"/>
            <a:ext cx="15773400" cy="1234440"/>
            <a:chOff x="0" y="0"/>
            <a:chExt cx="2103120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645920"/>
            </a:xfrm>
            <a:custGeom>
              <a:avLst/>
              <a:gdLst/>
              <a:ahLst/>
              <a:cxnLst/>
              <a:rect l="l" t="t" r="r" b="b"/>
              <a:pathLst>
                <a:path w="21031200" h="164592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03120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Data Source &amp; Preparation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400300"/>
            <a:ext cx="16184880" cy="685800"/>
            <a:chOff x="0" y="0"/>
            <a:chExt cx="2157984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579839" cy="914400"/>
            </a:xfrm>
            <a:custGeom>
              <a:avLst/>
              <a:gdLst/>
              <a:ahLst/>
              <a:cxnLst/>
              <a:rect l="l" t="t" r="r" b="b"/>
              <a:pathLst>
                <a:path w="21579839" h="914400">
                  <a:moveTo>
                    <a:pt x="0" y="0"/>
                  </a:moveTo>
                  <a:lnTo>
                    <a:pt x="21579839" y="0"/>
                  </a:lnTo>
                  <a:lnTo>
                    <a:pt x="215798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846" b="-40984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157984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A1A1A"/>
                  </a:solidFill>
                  <a:latin typeface="Futura"/>
                  <a:ea typeface="Futura"/>
                  <a:cs typeface="Futura"/>
                  <a:sym typeface="Futura"/>
                </a:rPr>
                <a:t>Secondary data from House of Travels &amp; Tourism (Pvt) Ltd's customer feedback database (2024-2025).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22960" y="3703320"/>
            <a:ext cx="3909060" cy="2743200"/>
            <a:chOff x="0" y="0"/>
            <a:chExt cx="5212080" cy="3657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12080" cy="3657600"/>
            </a:xfrm>
            <a:custGeom>
              <a:avLst/>
              <a:gdLst/>
              <a:ahLst/>
              <a:cxnLst/>
              <a:rect l="l" t="t" r="r" b="b"/>
              <a:pathLst>
                <a:path w="5212080" h="3657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3511296"/>
                  </a:lnTo>
                  <a:cubicBezTo>
                    <a:pt x="5212080" y="3592068"/>
                    <a:pt x="5146548" y="3657600"/>
                    <a:pt x="5065776" y="3657600"/>
                  </a:cubicBezTo>
                  <a:lnTo>
                    <a:pt x="146304" y="3657600"/>
                  </a:lnTo>
                  <a:cubicBezTo>
                    <a:pt x="65532" y="3657600"/>
                    <a:pt x="0" y="3592068"/>
                    <a:pt x="0" y="3511296"/>
                  </a:cubicBezTo>
                  <a:close/>
                </a:path>
              </a:pathLst>
            </a:custGeom>
            <a:solidFill>
              <a:srgbClr val="305A48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28700" y="3867912"/>
            <a:ext cx="1097280" cy="938251"/>
            <a:chOff x="0" y="0"/>
            <a:chExt cx="1463040" cy="12510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63040" cy="1251001"/>
            </a:xfrm>
            <a:custGeom>
              <a:avLst/>
              <a:gdLst/>
              <a:ahLst/>
              <a:cxnLst/>
              <a:rect l="l" t="t" r="r" b="b"/>
              <a:pathLst>
                <a:path w="1463040" h="1251001">
                  <a:moveTo>
                    <a:pt x="0" y="0"/>
                  </a:moveTo>
                  <a:lnTo>
                    <a:pt x="1463040" y="0"/>
                  </a:lnTo>
                  <a:lnTo>
                    <a:pt x="1463040" y="1251001"/>
                  </a:lnTo>
                  <a:lnTo>
                    <a:pt x="0" y="12510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 b="1228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1463040" cy="12414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1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20140" y="4798695"/>
            <a:ext cx="3314700" cy="60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Merge feedback, hotel &amp; booking data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759452" y="4526280"/>
            <a:ext cx="411480" cy="695211"/>
            <a:chOff x="0" y="0"/>
            <a:chExt cx="548640" cy="9269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48640" cy="926948"/>
            </a:xfrm>
            <a:custGeom>
              <a:avLst/>
              <a:gdLst/>
              <a:ahLst/>
              <a:cxnLst/>
              <a:rect l="l" t="t" r="r" b="b"/>
              <a:pathLst>
                <a:path w="548640" h="926948">
                  <a:moveTo>
                    <a:pt x="0" y="0"/>
                  </a:moveTo>
                  <a:lnTo>
                    <a:pt x="548640" y="0"/>
                  </a:lnTo>
                  <a:lnTo>
                    <a:pt x="548640" y="926948"/>
                  </a:lnTo>
                  <a:lnTo>
                    <a:pt x="0" y="9269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r="-163839" b="135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548640" cy="993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&gt;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84648" y="3703320"/>
            <a:ext cx="3909060" cy="2743200"/>
            <a:chOff x="0" y="0"/>
            <a:chExt cx="5212080" cy="3657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212080" cy="3657600"/>
            </a:xfrm>
            <a:custGeom>
              <a:avLst/>
              <a:gdLst/>
              <a:ahLst/>
              <a:cxnLst/>
              <a:rect l="l" t="t" r="r" b="b"/>
              <a:pathLst>
                <a:path w="5212080" h="3657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3511296"/>
                  </a:lnTo>
                  <a:cubicBezTo>
                    <a:pt x="5212080" y="3592068"/>
                    <a:pt x="5146548" y="3657600"/>
                    <a:pt x="5065776" y="3657600"/>
                  </a:cubicBezTo>
                  <a:lnTo>
                    <a:pt x="146304" y="3657600"/>
                  </a:lnTo>
                  <a:cubicBezTo>
                    <a:pt x="65532" y="3657600"/>
                    <a:pt x="0" y="3592068"/>
                    <a:pt x="0" y="3511296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390388" y="3867912"/>
            <a:ext cx="1097280" cy="938251"/>
            <a:chOff x="0" y="0"/>
            <a:chExt cx="1463040" cy="125100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63040" cy="1251001"/>
            </a:xfrm>
            <a:custGeom>
              <a:avLst/>
              <a:gdLst/>
              <a:ahLst/>
              <a:cxnLst/>
              <a:rect l="l" t="t" r="r" b="b"/>
              <a:pathLst>
                <a:path w="1463040" h="1251001">
                  <a:moveTo>
                    <a:pt x="0" y="0"/>
                  </a:moveTo>
                  <a:lnTo>
                    <a:pt x="1463040" y="0"/>
                  </a:lnTo>
                  <a:lnTo>
                    <a:pt x="1463040" y="1251001"/>
                  </a:lnTo>
                  <a:lnTo>
                    <a:pt x="0" y="12510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 b="12287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1463040" cy="12414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2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481828" y="4798695"/>
            <a:ext cx="3314700" cy="60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Remove duplicates (Booking No + Hotel ID)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121140" y="4526280"/>
            <a:ext cx="411480" cy="695211"/>
            <a:chOff x="0" y="0"/>
            <a:chExt cx="548640" cy="9269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" cy="926948"/>
            </a:xfrm>
            <a:custGeom>
              <a:avLst/>
              <a:gdLst/>
              <a:ahLst/>
              <a:cxnLst/>
              <a:rect l="l" t="t" r="r" b="b"/>
              <a:pathLst>
                <a:path w="548640" h="926948">
                  <a:moveTo>
                    <a:pt x="0" y="0"/>
                  </a:moveTo>
                  <a:lnTo>
                    <a:pt x="548640" y="0"/>
                  </a:lnTo>
                  <a:lnTo>
                    <a:pt x="548640" y="926948"/>
                  </a:lnTo>
                  <a:lnTo>
                    <a:pt x="0" y="9269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r="-163839" b="135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548640" cy="993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&gt;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46336" y="3703320"/>
            <a:ext cx="3909060" cy="2743200"/>
            <a:chOff x="0" y="0"/>
            <a:chExt cx="5212080" cy="3657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212080" cy="3657600"/>
            </a:xfrm>
            <a:custGeom>
              <a:avLst/>
              <a:gdLst/>
              <a:ahLst/>
              <a:cxnLst/>
              <a:rect l="l" t="t" r="r" b="b"/>
              <a:pathLst>
                <a:path w="5212080" h="3657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3511296"/>
                  </a:lnTo>
                  <a:cubicBezTo>
                    <a:pt x="5212080" y="3592068"/>
                    <a:pt x="5146548" y="3657600"/>
                    <a:pt x="5065776" y="3657600"/>
                  </a:cubicBezTo>
                  <a:lnTo>
                    <a:pt x="146304" y="3657600"/>
                  </a:lnTo>
                  <a:cubicBezTo>
                    <a:pt x="65532" y="3657600"/>
                    <a:pt x="0" y="3592068"/>
                    <a:pt x="0" y="3511296"/>
                  </a:cubicBezTo>
                  <a:close/>
                </a:path>
              </a:pathLst>
            </a:custGeom>
            <a:solidFill>
              <a:srgbClr val="305A48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752076" y="3867912"/>
            <a:ext cx="1097280" cy="938251"/>
            <a:chOff x="0" y="0"/>
            <a:chExt cx="1463040" cy="125100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63040" cy="1251001"/>
            </a:xfrm>
            <a:custGeom>
              <a:avLst/>
              <a:gdLst/>
              <a:ahLst/>
              <a:cxnLst/>
              <a:rect l="l" t="t" r="r" b="b"/>
              <a:pathLst>
                <a:path w="1463040" h="1251001">
                  <a:moveTo>
                    <a:pt x="0" y="0"/>
                  </a:moveTo>
                  <a:lnTo>
                    <a:pt x="1463040" y="0"/>
                  </a:lnTo>
                  <a:lnTo>
                    <a:pt x="1463040" y="1251001"/>
                  </a:lnTo>
                  <a:lnTo>
                    <a:pt x="0" y="12510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 b="12287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9525"/>
              <a:ext cx="1463040" cy="12414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3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843516" y="4798695"/>
            <a:ext cx="3314700" cy="60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Treat placeholder values as missing; impute with mode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3482828" y="4526280"/>
            <a:ext cx="411480" cy="695211"/>
            <a:chOff x="0" y="0"/>
            <a:chExt cx="548640" cy="9269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48640" cy="926948"/>
            </a:xfrm>
            <a:custGeom>
              <a:avLst/>
              <a:gdLst/>
              <a:ahLst/>
              <a:cxnLst/>
              <a:rect l="l" t="t" r="r" b="b"/>
              <a:pathLst>
                <a:path w="548640" h="926948">
                  <a:moveTo>
                    <a:pt x="0" y="0"/>
                  </a:moveTo>
                  <a:lnTo>
                    <a:pt x="548640" y="0"/>
                  </a:lnTo>
                  <a:lnTo>
                    <a:pt x="548640" y="926948"/>
                  </a:lnTo>
                  <a:lnTo>
                    <a:pt x="0" y="9269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r="-163839" b="135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548640" cy="993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&gt;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908024" y="3703320"/>
            <a:ext cx="3909060" cy="2743200"/>
            <a:chOff x="0" y="0"/>
            <a:chExt cx="5212080" cy="36576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212080" cy="3657600"/>
            </a:xfrm>
            <a:custGeom>
              <a:avLst/>
              <a:gdLst/>
              <a:ahLst/>
              <a:cxnLst/>
              <a:rect l="l" t="t" r="r" b="b"/>
              <a:pathLst>
                <a:path w="5212080" h="3657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3511296"/>
                  </a:lnTo>
                  <a:cubicBezTo>
                    <a:pt x="5212080" y="3592068"/>
                    <a:pt x="5146548" y="3657600"/>
                    <a:pt x="5065776" y="3657600"/>
                  </a:cubicBezTo>
                  <a:lnTo>
                    <a:pt x="146304" y="3657600"/>
                  </a:lnTo>
                  <a:cubicBezTo>
                    <a:pt x="65532" y="3657600"/>
                    <a:pt x="0" y="3592068"/>
                    <a:pt x="0" y="3511296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4113764" y="3867912"/>
            <a:ext cx="1097280" cy="938251"/>
            <a:chOff x="0" y="0"/>
            <a:chExt cx="1463040" cy="125100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63040" cy="1251001"/>
            </a:xfrm>
            <a:custGeom>
              <a:avLst/>
              <a:gdLst/>
              <a:ahLst/>
              <a:cxnLst/>
              <a:rect l="l" t="t" r="r" b="b"/>
              <a:pathLst>
                <a:path w="1463040" h="1251001">
                  <a:moveTo>
                    <a:pt x="0" y="0"/>
                  </a:moveTo>
                  <a:lnTo>
                    <a:pt x="1463040" y="0"/>
                  </a:lnTo>
                  <a:lnTo>
                    <a:pt x="1463040" y="1251001"/>
                  </a:lnTo>
                  <a:lnTo>
                    <a:pt x="0" y="12510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 b="12287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9525"/>
              <a:ext cx="1463040" cy="12414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4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4205204" y="4798695"/>
            <a:ext cx="3314700" cy="60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Ordinally encode ratings (Unacceptable=0 to Excellent=4)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813435" y="6985635"/>
            <a:ext cx="16341090" cy="2076450"/>
            <a:chOff x="0" y="0"/>
            <a:chExt cx="21788120" cy="27686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88120" cy="2768600"/>
            </a:xfrm>
            <a:custGeom>
              <a:avLst/>
              <a:gdLst/>
              <a:ahLst/>
              <a:cxnLst/>
              <a:rect l="l" t="t" r="r" b="b"/>
              <a:pathLst>
                <a:path w="21788120" h="27686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1640419" y="0"/>
                  </a:lnTo>
                  <a:cubicBezTo>
                    <a:pt x="21721953" y="0"/>
                    <a:pt x="21788120" y="66167"/>
                    <a:pt x="21788120" y="147701"/>
                  </a:cubicBezTo>
                  <a:lnTo>
                    <a:pt x="21788120" y="2620899"/>
                  </a:lnTo>
                  <a:cubicBezTo>
                    <a:pt x="21788120" y="2702433"/>
                    <a:pt x="21721953" y="2768600"/>
                    <a:pt x="2164041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CFE3EA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234440" y="7338060"/>
            <a:ext cx="15499080" cy="1371600"/>
            <a:chOff x="0" y="0"/>
            <a:chExt cx="20665440" cy="1828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0665439" cy="1828800"/>
            </a:xfrm>
            <a:custGeom>
              <a:avLst/>
              <a:gdLst/>
              <a:ahLst/>
              <a:cxnLst/>
              <a:rect l="l" t="t" r="r" b="b"/>
              <a:pathLst>
                <a:path w="20665439" h="1828800">
                  <a:moveTo>
                    <a:pt x="0" y="0"/>
                  </a:moveTo>
                  <a:lnTo>
                    <a:pt x="20665439" y="0"/>
                  </a:lnTo>
                  <a:lnTo>
                    <a:pt x="206654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180" b="-170180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85725"/>
              <a:ext cx="20665440" cy="19145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100" b="1">
                  <a:solidFill>
                    <a:srgbClr val="243E33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Sample</a:t>
              </a:r>
              <a:r>
                <a:rPr lang="en-US" sz="2100" b="1">
                  <a:solidFill>
                    <a:srgbClr val="21295C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: </a:t>
              </a:r>
              <a:r>
                <a:rPr lang="en-US" sz="2100">
                  <a:solidFill>
                    <a:srgbClr val="1A1A1A"/>
                  </a:solidFill>
                  <a:latin typeface="Futura"/>
                  <a:ea typeface="Futura"/>
                  <a:cs typeface="Futura"/>
                  <a:sym typeface="Futura"/>
                </a:rPr>
                <a:t>All available reviews used (comprehensive collection, not a drawn sample)   |   </a:t>
              </a:r>
              <a:r>
                <a:rPr lang="en-US" sz="2100" b="1">
                  <a:solidFill>
                    <a:srgbClr val="243E33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Features:</a:t>
              </a:r>
              <a:r>
                <a:rPr lang="en-US" sz="2100" b="1">
                  <a:solidFill>
                    <a:srgbClr val="21295C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 </a:t>
              </a:r>
              <a:r>
                <a:rPr lang="en-US" sz="2100">
                  <a:solidFill>
                    <a:srgbClr val="1A1A1A"/>
                  </a:solidFill>
                  <a:latin typeface="Futura"/>
                  <a:ea typeface="Futura"/>
                  <a:cs typeface="Futura"/>
                  <a:sym typeface="Futura"/>
                </a:rPr>
                <a:t>6 ordinal service ratings + Overall Rating + Nationality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7282160" y="9806940"/>
            <a:ext cx="685800" cy="411480"/>
            <a:chOff x="0" y="0"/>
            <a:chExt cx="914400" cy="5486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48640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2E7D5B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METHODOLOGY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028700"/>
            <a:ext cx="15773400" cy="1234440"/>
            <a:chOff x="0" y="0"/>
            <a:chExt cx="2103120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645920"/>
            </a:xfrm>
            <a:custGeom>
              <a:avLst/>
              <a:gdLst/>
              <a:ahLst/>
              <a:cxnLst/>
              <a:rect l="l" t="t" r="r" b="b"/>
              <a:pathLst>
                <a:path w="21031200" h="164592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03120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Conceptual Framework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3291840"/>
            <a:ext cx="3017520" cy="3566160"/>
            <a:chOff x="0" y="0"/>
            <a:chExt cx="4023360" cy="47548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23360" cy="4754880"/>
            </a:xfrm>
            <a:custGeom>
              <a:avLst/>
              <a:gdLst/>
              <a:ahLst/>
              <a:cxnLst/>
              <a:rect l="l" t="t" r="r" b="b"/>
              <a:pathLst>
                <a:path w="4023360" h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877056" y="0"/>
                  </a:lnTo>
                  <a:cubicBezTo>
                    <a:pt x="3957828" y="0"/>
                    <a:pt x="4023360" y="65532"/>
                    <a:pt x="4023360" y="146304"/>
                  </a:cubicBezTo>
                  <a:lnTo>
                    <a:pt x="4023360" y="4608576"/>
                  </a:lnTo>
                  <a:cubicBezTo>
                    <a:pt x="4023360" y="4689348"/>
                    <a:pt x="3957828" y="4754880"/>
                    <a:pt x="3877056" y="4754880"/>
                  </a:cubicBezTo>
                  <a:lnTo>
                    <a:pt x="146304" y="4754880"/>
                  </a:lnTo>
                  <a:cubicBezTo>
                    <a:pt x="65532" y="4754880"/>
                    <a:pt x="0" y="4689348"/>
                    <a:pt x="0" y="4608576"/>
                  </a:cubicBezTo>
                  <a:close/>
                </a:path>
              </a:pathLst>
            </a:custGeom>
            <a:solidFill>
              <a:srgbClr val="305A48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120140" y="3621405"/>
            <a:ext cx="2423160" cy="323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25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Input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0140" y="5092065"/>
            <a:ext cx="2423160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25">
                <a:solidFill>
                  <a:srgbClr val="CFE3EA"/>
                </a:solidFill>
                <a:latin typeface="Futura"/>
                <a:ea typeface="Futura"/>
                <a:cs typeface="Futura"/>
                <a:sym typeface="Futura"/>
              </a:rPr>
              <a:t>Ordinal service</a:t>
            </a:r>
          </a:p>
          <a:p>
            <a:pPr algn="l">
              <a:lnSpc>
                <a:spcPts val="2099"/>
              </a:lnSpc>
            </a:pPr>
            <a:r>
              <a:rPr lang="en-US" sz="1725">
                <a:solidFill>
                  <a:srgbClr val="CFE3EA"/>
                </a:solidFill>
                <a:latin typeface="Futura"/>
                <a:ea typeface="Futura"/>
                <a:cs typeface="Futura"/>
                <a:sym typeface="Futura"/>
              </a:rPr>
              <a:t>ratings + EDA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840480" y="4389120"/>
            <a:ext cx="480060" cy="822960"/>
            <a:chOff x="0" y="0"/>
            <a:chExt cx="640080" cy="10972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0080" cy="1097280"/>
            </a:xfrm>
            <a:custGeom>
              <a:avLst/>
              <a:gdLst/>
              <a:ahLst/>
              <a:cxnLst/>
              <a:rect l="l" t="t" r="r" b="b"/>
              <a:pathLst>
                <a:path w="640080" h="1097280">
                  <a:moveTo>
                    <a:pt x="0" y="0"/>
                  </a:moveTo>
                  <a:lnTo>
                    <a:pt x="640080" y="0"/>
                  </a:lnTo>
                  <a:lnTo>
                    <a:pt x="640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r="-16994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64008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&gt;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20540" y="3291840"/>
            <a:ext cx="3017520" cy="3566160"/>
            <a:chOff x="0" y="0"/>
            <a:chExt cx="4023360" cy="47548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23360" cy="4754880"/>
            </a:xfrm>
            <a:custGeom>
              <a:avLst/>
              <a:gdLst/>
              <a:ahLst/>
              <a:cxnLst/>
              <a:rect l="l" t="t" r="r" b="b"/>
              <a:pathLst>
                <a:path w="4023360" h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877056" y="0"/>
                  </a:lnTo>
                  <a:cubicBezTo>
                    <a:pt x="3957828" y="0"/>
                    <a:pt x="4023360" y="65532"/>
                    <a:pt x="4023360" y="146304"/>
                  </a:cubicBezTo>
                  <a:lnTo>
                    <a:pt x="4023360" y="4608576"/>
                  </a:lnTo>
                  <a:cubicBezTo>
                    <a:pt x="4023360" y="4689348"/>
                    <a:pt x="3957828" y="4754880"/>
                    <a:pt x="3877056" y="4754880"/>
                  </a:cubicBezTo>
                  <a:lnTo>
                    <a:pt x="146304" y="4754880"/>
                  </a:lnTo>
                  <a:cubicBezTo>
                    <a:pt x="65532" y="4754880"/>
                    <a:pt x="0" y="4689348"/>
                    <a:pt x="0" y="4608576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4617720" y="3621405"/>
            <a:ext cx="2423160" cy="638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25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Distance</a:t>
            </a:r>
          </a:p>
          <a:p>
            <a:pPr algn="l">
              <a:lnSpc>
                <a:spcPts val="2549"/>
              </a:lnSpc>
            </a:pPr>
            <a:r>
              <a:rPr lang="en-US" sz="225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Computation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17720" y="5092065"/>
            <a:ext cx="2423160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25">
                <a:solidFill>
                  <a:srgbClr val="CFE3EA"/>
                </a:solidFill>
                <a:latin typeface="Futura"/>
                <a:ea typeface="Futura"/>
                <a:cs typeface="Futura"/>
                <a:sym typeface="Futura"/>
              </a:rPr>
              <a:t>Gower, Podani,</a:t>
            </a:r>
          </a:p>
          <a:p>
            <a:pPr algn="l">
              <a:lnSpc>
                <a:spcPts val="2099"/>
              </a:lnSpc>
            </a:pPr>
            <a:r>
              <a:rPr lang="en-US" sz="1725">
                <a:solidFill>
                  <a:srgbClr val="CFE3EA"/>
                </a:solidFill>
                <a:latin typeface="Futura"/>
                <a:ea typeface="Futura"/>
                <a:cs typeface="Futura"/>
                <a:sym typeface="Futura"/>
              </a:rPr>
              <a:t>GDM2 matrices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338060" y="4389120"/>
            <a:ext cx="480060" cy="822960"/>
            <a:chOff x="0" y="0"/>
            <a:chExt cx="640080" cy="10972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0080" cy="1097280"/>
            </a:xfrm>
            <a:custGeom>
              <a:avLst/>
              <a:gdLst/>
              <a:ahLst/>
              <a:cxnLst/>
              <a:rect l="l" t="t" r="r" b="b"/>
              <a:pathLst>
                <a:path w="640080" h="1097280">
                  <a:moveTo>
                    <a:pt x="0" y="0"/>
                  </a:moveTo>
                  <a:lnTo>
                    <a:pt x="640080" y="0"/>
                  </a:lnTo>
                  <a:lnTo>
                    <a:pt x="640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r="-169948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64008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&gt;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818120" y="3291840"/>
            <a:ext cx="3017520" cy="3566160"/>
            <a:chOff x="0" y="0"/>
            <a:chExt cx="4023360" cy="47548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023360" cy="4754880"/>
            </a:xfrm>
            <a:custGeom>
              <a:avLst/>
              <a:gdLst/>
              <a:ahLst/>
              <a:cxnLst/>
              <a:rect l="l" t="t" r="r" b="b"/>
              <a:pathLst>
                <a:path w="4023360" h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877056" y="0"/>
                  </a:lnTo>
                  <a:cubicBezTo>
                    <a:pt x="3957828" y="0"/>
                    <a:pt x="4023360" y="65532"/>
                    <a:pt x="4023360" y="146304"/>
                  </a:cubicBezTo>
                  <a:lnTo>
                    <a:pt x="4023360" y="4608576"/>
                  </a:lnTo>
                  <a:cubicBezTo>
                    <a:pt x="4023360" y="4689348"/>
                    <a:pt x="3957828" y="4754880"/>
                    <a:pt x="3877056" y="4754880"/>
                  </a:cubicBezTo>
                  <a:lnTo>
                    <a:pt x="146304" y="4754880"/>
                  </a:lnTo>
                  <a:cubicBezTo>
                    <a:pt x="65532" y="4754880"/>
                    <a:pt x="0" y="4689348"/>
                    <a:pt x="0" y="4608576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8115300" y="3621405"/>
            <a:ext cx="2423160" cy="638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25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K-Medoids</a:t>
            </a:r>
          </a:p>
          <a:p>
            <a:pPr algn="l">
              <a:lnSpc>
                <a:spcPts val="2549"/>
              </a:lnSpc>
            </a:pPr>
            <a:r>
              <a:rPr lang="en-US" sz="225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Clustering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15300" y="5092065"/>
            <a:ext cx="2423160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25">
                <a:solidFill>
                  <a:srgbClr val="CFE3EA"/>
                </a:solidFill>
                <a:latin typeface="Futura"/>
                <a:ea typeface="Futura"/>
                <a:cs typeface="Futura"/>
                <a:sym typeface="Futura"/>
              </a:rPr>
              <a:t>Applied per</a:t>
            </a:r>
          </a:p>
          <a:p>
            <a:pPr algn="l">
              <a:lnSpc>
                <a:spcPts val="2099"/>
              </a:lnSpc>
            </a:pPr>
            <a:r>
              <a:rPr lang="en-US" sz="1725">
                <a:solidFill>
                  <a:srgbClr val="CFE3EA"/>
                </a:solidFill>
                <a:latin typeface="Futura"/>
                <a:ea typeface="Futura"/>
                <a:cs typeface="Futura"/>
                <a:sym typeface="Futura"/>
              </a:rPr>
              <a:t>distance measure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835640" y="4389120"/>
            <a:ext cx="480060" cy="822960"/>
            <a:chOff x="0" y="0"/>
            <a:chExt cx="640080" cy="10972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40080" cy="1097280"/>
            </a:xfrm>
            <a:custGeom>
              <a:avLst/>
              <a:gdLst/>
              <a:ahLst/>
              <a:cxnLst/>
              <a:rect l="l" t="t" r="r" b="b"/>
              <a:pathLst>
                <a:path w="640080" h="1097280">
                  <a:moveTo>
                    <a:pt x="0" y="0"/>
                  </a:moveTo>
                  <a:lnTo>
                    <a:pt x="640080" y="0"/>
                  </a:lnTo>
                  <a:lnTo>
                    <a:pt x="640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r="-169948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64008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&gt;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315700" y="3291840"/>
            <a:ext cx="3017520" cy="3566160"/>
            <a:chOff x="0" y="0"/>
            <a:chExt cx="4023360" cy="47548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023360" cy="4754880"/>
            </a:xfrm>
            <a:custGeom>
              <a:avLst/>
              <a:gdLst/>
              <a:ahLst/>
              <a:cxnLst/>
              <a:rect l="l" t="t" r="r" b="b"/>
              <a:pathLst>
                <a:path w="4023360" h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877056" y="0"/>
                  </a:lnTo>
                  <a:cubicBezTo>
                    <a:pt x="3957828" y="0"/>
                    <a:pt x="4023360" y="65532"/>
                    <a:pt x="4023360" y="146304"/>
                  </a:cubicBezTo>
                  <a:lnTo>
                    <a:pt x="4023360" y="4608576"/>
                  </a:lnTo>
                  <a:cubicBezTo>
                    <a:pt x="4023360" y="4689348"/>
                    <a:pt x="3957828" y="4754880"/>
                    <a:pt x="3877056" y="4754880"/>
                  </a:cubicBezTo>
                  <a:lnTo>
                    <a:pt x="146304" y="4754880"/>
                  </a:lnTo>
                  <a:cubicBezTo>
                    <a:pt x="65532" y="4754880"/>
                    <a:pt x="0" y="4689348"/>
                    <a:pt x="0" y="4608576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1612880" y="3621405"/>
            <a:ext cx="2423160" cy="638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25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Validity</a:t>
            </a:r>
          </a:p>
          <a:p>
            <a:pPr algn="l">
              <a:lnSpc>
                <a:spcPts val="2549"/>
              </a:lnSpc>
            </a:pPr>
            <a:r>
              <a:rPr lang="en-US" sz="225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Comparison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612880" y="5092065"/>
            <a:ext cx="2423160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25">
                <a:solidFill>
                  <a:srgbClr val="CFE3EA"/>
                </a:solidFill>
                <a:latin typeface="Futura"/>
                <a:ea typeface="Futura"/>
                <a:cs typeface="Futura"/>
                <a:sym typeface="Futura"/>
              </a:rPr>
              <a:t>Silhouette Score &amp;</a:t>
            </a:r>
          </a:p>
          <a:p>
            <a:pPr algn="l">
              <a:lnSpc>
                <a:spcPts val="2099"/>
              </a:lnSpc>
            </a:pPr>
            <a:r>
              <a:rPr lang="en-US" sz="1725">
                <a:solidFill>
                  <a:srgbClr val="CFE3EA"/>
                </a:solidFill>
                <a:latin typeface="Futura"/>
                <a:ea typeface="Futura"/>
                <a:cs typeface="Futura"/>
                <a:sym typeface="Futura"/>
              </a:rPr>
              <a:t>Davies-Bouldin Index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4333220" y="4389120"/>
            <a:ext cx="480060" cy="822960"/>
            <a:chOff x="0" y="0"/>
            <a:chExt cx="640080" cy="10972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40080" cy="1097280"/>
            </a:xfrm>
            <a:custGeom>
              <a:avLst/>
              <a:gdLst/>
              <a:ahLst/>
              <a:cxnLst/>
              <a:rect l="l" t="t" r="r" b="b"/>
              <a:pathLst>
                <a:path w="640080" h="1097280">
                  <a:moveTo>
                    <a:pt x="0" y="0"/>
                  </a:moveTo>
                  <a:lnTo>
                    <a:pt x="640080" y="0"/>
                  </a:lnTo>
                  <a:lnTo>
                    <a:pt x="640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r="-169948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76200"/>
              <a:ext cx="64008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&gt;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813280" y="3291840"/>
            <a:ext cx="3017520" cy="3566160"/>
            <a:chOff x="0" y="0"/>
            <a:chExt cx="4023360" cy="47548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023360" cy="4754880"/>
            </a:xfrm>
            <a:custGeom>
              <a:avLst/>
              <a:gdLst/>
              <a:ahLst/>
              <a:cxnLst/>
              <a:rect l="l" t="t" r="r" b="b"/>
              <a:pathLst>
                <a:path w="4023360" h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877056" y="0"/>
                  </a:lnTo>
                  <a:cubicBezTo>
                    <a:pt x="3957828" y="0"/>
                    <a:pt x="4023360" y="65532"/>
                    <a:pt x="4023360" y="146304"/>
                  </a:cubicBezTo>
                  <a:lnTo>
                    <a:pt x="4023360" y="4608576"/>
                  </a:lnTo>
                  <a:cubicBezTo>
                    <a:pt x="4023360" y="4689348"/>
                    <a:pt x="3957828" y="4754880"/>
                    <a:pt x="3877056" y="4754880"/>
                  </a:cubicBezTo>
                  <a:lnTo>
                    <a:pt x="146304" y="4754880"/>
                  </a:lnTo>
                  <a:cubicBezTo>
                    <a:pt x="65532" y="4754880"/>
                    <a:pt x="0" y="4689348"/>
                    <a:pt x="0" y="4608576"/>
                  </a:cubicBezTo>
                  <a:close/>
                </a:path>
              </a:pathLst>
            </a:custGeom>
            <a:solidFill>
              <a:srgbClr val="305A48"/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15110460" y="3621405"/>
            <a:ext cx="2423160" cy="638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25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Best Distance</a:t>
            </a:r>
          </a:p>
          <a:p>
            <a:pPr algn="l">
              <a:lnSpc>
                <a:spcPts val="2549"/>
              </a:lnSpc>
            </a:pPr>
            <a:r>
              <a:rPr lang="en-US" sz="225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Selected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110460" y="5092065"/>
            <a:ext cx="2423160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25">
                <a:solidFill>
                  <a:srgbClr val="CFE3EA"/>
                </a:solidFill>
                <a:latin typeface="Futura"/>
                <a:ea typeface="Futura"/>
                <a:cs typeface="Futura"/>
                <a:sym typeface="Futura"/>
              </a:rPr>
              <a:t>Segment profiling &amp;</a:t>
            </a:r>
          </a:p>
          <a:p>
            <a:pPr algn="l">
              <a:lnSpc>
                <a:spcPts val="2099"/>
              </a:lnSpc>
            </a:pPr>
            <a:r>
              <a:rPr lang="en-US" sz="1725">
                <a:solidFill>
                  <a:srgbClr val="CFE3EA"/>
                </a:solidFill>
                <a:latin typeface="Futura"/>
                <a:ea typeface="Futura"/>
                <a:cs typeface="Futura"/>
                <a:sym typeface="Futura"/>
              </a:rPr>
              <a:t>Kruskal-Wallis test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14400" y="7688580"/>
            <a:ext cx="160020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i="1" dirty="0">
                <a:solidFill>
                  <a:srgbClr val="5C6B73"/>
                </a:solidFill>
                <a:latin typeface="Futura Italics"/>
                <a:ea typeface="Futura Italics"/>
                <a:cs typeface="Futura Italics"/>
                <a:sym typeface="Futura Italics"/>
              </a:rPr>
              <a:t>The clustering algorithm (K-Medoids) is held constant across all three distance measures, isolating the choice of distance measure as the single variable under test.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7282160" y="9806940"/>
            <a:ext cx="685800" cy="411480"/>
            <a:chOff x="0" y="0"/>
            <a:chExt cx="914400" cy="5486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48640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2E7D5B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METHODOLOGY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028700"/>
            <a:ext cx="15773400" cy="1234440"/>
            <a:chOff x="0" y="0"/>
            <a:chExt cx="2103120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645920"/>
            </a:xfrm>
            <a:custGeom>
              <a:avLst/>
              <a:gdLst/>
              <a:ahLst/>
              <a:cxnLst/>
              <a:rect l="l" t="t" r="r" b="b"/>
              <a:pathLst>
                <a:path w="21031200" h="164592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03120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Three Ordinal-Appropriate Distance Measures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3435" y="2596515"/>
            <a:ext cx="5436870" cy="6054090"/>
            <a:chOff x="0" y="0"/>
            <a:chExt cx="7249160" cy="8072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249160" cy="8072120"/>
            </a:xfrm>
            <a:custGeom>
              <a:avLst/>
              <a:gdLst/>
              <a:ahLst/>
              <a:cxnLst/>
              <a:rect l="l" t="t" r="r" b="b"/>
              <a:pathLst>
                <a:path w="7249160" h="807212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102348" y="0"/>
                  </a:lnTo>
                  <a:cubicBezTo>
                    <a:pt x="7183374" y="0"/>
                    <a:pt x="7249160" y="65786"/>
                    <a:pt x="7249160" y="146812"/>
                  </a:cubicBezTo>
                  <a:lnTo>
                    <a:pt x="7249160" y="7925308"/>
                  </a:lnTo>
                  <a:cubicBezTo>
                    <a:pt x="7249160" y="8006334"/>
                    <a:pt x="7183374" y="8072120"/>
                    <a:pt x="7102348" y="8072120"/>
                  </a:cubicBezTo>
                  <a:lnTo>
                    <a:pt x="146812" y="8072120"/>
                  </a:lnTo>
                  <a:cubicBezTo>
                    <a:pt x="65786" y="8072120"/>
                    <a:pt x="0" y="8006334"/>
                    <a:pt x="0" y="7925308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CFE3EA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257300" y="2994660"/>
            <a:ext cx="454914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243E33"/>
                </a:solidFill>
                <a:latin typeface="Oswald Bold"/>
                <a:ea typeface="Oswald Bold"/>
                <a:cs typeface="Oswald Bold"/>
                <a:sym typeface="Oswald Bold"/>
              </a:rPr>
              <a:t>Gower Distance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7300" y="4015740"/>
            <a:ext cx="4549140" cy="1059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95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Range-normalised absolute difference on raw ordinal codes, averaged across features.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65860" y="7406640"/>
            <a:ext cx="4732020" cy="754380"/>
            <a:chOff x="0" y="0"/>
            <a:chExt cx="6309360" cy="10058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09360" cy="1005840"/>
            </a:xfrm>
            <a:custGeom>
              <a:avLst/>
              <a:gdLst/>
              <a:ahLst/>
              <a:cxnLst/>
              <a:rect l="l" t="t" r="r" b="b"/>
              <a:pathLst>
                <a:path w="630936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lnTo>
                    <a:pt x="5806440" y="0"/>
                  </a:lnTo>
                  <a:cubicBezTo>
                    <a:pt x="6084189" y="0"/>
                    <a:pt x="6309360" y="225171"/>
                    <a:pt x="6309360" y="502920"/>
                  </a:cubicBezTo>
                  <a:cubicBezTo>
                    <a:pt x="6309360" y="780669"/>
                    <a:pt x="6084189" y="1005840"/>
                    <a:pt x="5806440" y="1005840"/>
                  </a:cubicBezTo>
                  <a:lnTo>
                    <a:pt x="502920" y="1005840"/>
                  </a:ln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165860" y="7406640"/>
            <a:ext cx="4732020" cy="754380"/>
            <a:chOff x="0" y="0"/>
            <a:chExt cx="6309360" cy="1005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09360" cy="1005840"/>
            </a:xfrm>
            <a:custGeom>
              <a:avLst/>
              <a:gdLst/>
              <a:ahLst/>
              <a:cxnLst/>
              <a:rect l="l" t="t" r="r" b="b"/>
              <a:pathLst>
                <a:path w="6309360" h="100584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224" b="-7222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30936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General-purpose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05575" y="2596515"/>
            <a:ext cx="5436870" cy="6054090"/>
            <a:chOff x="0" y="0"/>
            <a:chExt cx="7249160" cy="80721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49160" cy="8072120"/>
            </a:xfrm>
            <a:custGeom>
              <a:avLst/>
              <a:gdLst/>
              <a:ahLst/>
              <a:cxnLst/>
              <a:rect l="l" t="t" r="r" b="b"/>
              <a:pathLst>
                <a:path w="7249160" h="807212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102348" y="0"/>
                  </a:lnTo>
                  <a:cubicBezTo>
                    <a:pt x="7183374" y="0"/>
                    <a:pt x="7249160" y="65786"/>
                    <a:pt x="7249160" y="146812"/>
                  </a:cubicBezTo>
                  <a:lnTo>
                    <a:pt x="7249160" y="7925308"/>
                  </a:lnTo>
                  <a:cubicBezTo>
                    <a:pt x="7249160" y="8006334"/>
                    <a:pt x="7183374" y="8072120"/>
                    <a:pt x="7102348" y="8072120"/>
                  </a:cubicBezTo>
                  <a:lnTo>
                    <a:pt x="146812" y="8072120"/>
                  </a:lnTo>
                  <a:cubicBezTo>
                    <a:pt x="65786" y="8072120"/>
                    <a:pt x="0" y="8006334"/>
                    <a:pt x="0" y="7925308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CFE3EA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6949440" y="2994660"/>
            <a:ext cx="454914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243E33"/>
                </a:solidFill>
                <a:latin typeface="Oswald Bold"/>
                <a:ea typeface="Oswald Bold"/>
                <a:cs typeface="Oswald Bold"/>
                <a:sym typeface="Oswald Bold"/>
              </a:rPr>
              <a:t>Podani's Ordinal Gower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49440" y="4015740"/>
            <a:ext cx="4549140" cy="1059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95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Ranks each variable first (tie-corrected), then applies Gower's formula - depends only on order.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858000" y="7406640"/>
            <a:ext cx="4732020" cy="754380"/>
            <a:chOff x="0" y="0"/>
            <a:chExt cx="6309360" cy="10058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09360" cy="1005840"/>
            </a:xfrm>
            <a:custGeom>
              <a:avLst/>
              <a:gdLst/>
              <a:ahLst/>
              <a:cxnLst/>
              <a:rect l="l" t="t" r="r" b="b"/>
              <a:pathLst>
                <a:path w="630936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lnTo>
                    <a:pt x="5806440" y="0"/>
                  </a:lnTo>
                  <a:cubicBezTo>
                    <a:pt x="6084189" y="0"/>
                    <a:pt x="6309360" y="225171"/>
                    <a:pt x="6309360" y="502920"/>
                  </a:cubicBezTo>
                  <a:cubicBezTo>
                    <a:pt x="6309360" y="780669"/>
                    <a:pt x="6084189" y="1005840"/>
                    <a:pt x="5806440" y="1005840"/>
                  </a:cubicBezTo>
                  <a:lnTo>
                    <a:pt x="502920" y="1005840"/>
                  </a:ln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858000" y="7406640"/>
            <a:ext cx="4732020" cy="754380"/>
            <a:chOff x="0" y="0"/>
            <a:chExt cx="6309360" cy="10058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09360" cy="1005840"/>
            </a:xfrm>
            <a:custGeom>
              <a:avLst/>
              <a:gdLst/>
              <a:ahLst/>
              <a:cxnLst/>
              <a:rect l="l" t="t" r="r" b="b"/>
              <a:pathLst>
                <a:path w="6309360" h="100584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224" b="-72224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30936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Rank-based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97715" y="2596515"/>
            <a:ext cx="5436870" cy="6054090"/>
            <a:chOff x="0" y="0"/>
            <a:chExt cx="7249160" cy="80721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249160" cy="8072120"/>
            </a:xfrm>
            <a:custGeom>
              <a:avLst/>
              <a:gdLst/>
              <a:ahLst/>
              <a:cxnLst/>
              <a:rect l="l" t="t" r="r" b="b"/>
              <a:pathLst>
                <a:path w="7249160" h="807212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102348" y="0"/>
                  </a:lnTo>
                  <a:cubicBezTo>
                    <a:pt x="7183374" y="0"/>
                    <a:pt x="7249160" y="65786"/>
                    <a:pt x="7249160" y="146812"/>
                  </a:cubicBezTo>
                  <a:lnTo>
                    <a:pt x="7249160" y="7925308"/>
                  </a:lnTo>
                  <a:cubicBezTo>
                    <a:pt x="7249160" y="8006334"/>
                    <a:pt x="7183374" y="8072120"/>
                    <a:pt x="7102348" y="8072120"/>
                  </a:cubicBezTo>
                  <a:lnTo>
                    <a:pt x="146812" y="8072120"/>
                  </a:lnTo>
                  <a:cubicBezTo>
                    <a:pt x="65786" y="8072120"/>
                    <a:pt x="0" y="8006334"/>
                    <a:pt x="0" y="7925308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CFE3EA"/>
              </a:solidFill>
              <a:prstDash val="solid"/>
              <a:miter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12641580" y="2994660"/>
            <a:ext cx="454914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243E33"/>
                </a:solidFill>
                <a:latin typeface="Oswald Bold"/>
                <a:ea typeface="Oswald Bold"/>
                <a:cs typeface="Oswald Bold"/>
                <a:sym typeface="Oswald Bold"/>
              </a:rPr>
              <a:t>GDM2 (Walesiak)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41580" y="4015740"/>
            <a:ext cx="4549140" cy="716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950" dirty="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Kendall's Tau-based measure purpose-built for ordinal item-battery survey data.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2550140" y="7406640"/>
            <a:ext cx="4732020" cy="754380"/>
            <a:chOff x="0" y="0"/>
            <a:chExt cx="6309360" cy="10058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309360" cy="1005840"/>
            </a:xfrm>
            <a:custGeom>
              <a:avLst/>
              <a:gdLst/>
              <a:ahLst/>
              <a:cxnLst/>
              <a:rect l="l" t="t" r="r" b="b"/>
              <a:pathLst>
                <a:path w="630936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lnTo>
                    <a:pt x="5806440" y="0"/>
                  </a:lnTo>
                  <a:cubicBezTo>
                    <a:pt x="6084189" y="0"/>
                    <a:pt x="6309360" y="225171"/>
                    <a:pt x="6309360" y="502920"/>
                  </a:cubicBezTo>
                  <a:cubicBezTo>
                    <a:pt x="6309360" y="780669"/>
                    <a:pt x="6084189" y="1005840"/>
                    <a:pt x="5806440" y="1005840"/>
                  </a:cubicBezTo>
                  <a:lnTo>
                    <a:pt x="502920" y="1005840"/>
                  </a:ln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2550140" y="7406640"/>
            <a:ext cx="4732020" cy="754380"/>
            <a:chOff x="0" y="0"/>
            <a:chExt cx="6309360" cy="10058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09360" cy="1005840"/>
            </a:xfrm>
            <a:custGeom>
              <a:avLst/>
              <a:gdLst/>
              <a:ahLst/>
              <a:cxnLst/>
              <a:rect l="l" t="t" r="r" b="b"/>
              <a:pathLst>
                <a:path w="6309360" h="100584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224" b="-72224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630936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Purpose-built for ordinal data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282160" y="9806940"/>
            <a:ext cx="685800" cy="411480"/>
            <a:chOff x="0" y="0"/>
            <a:chExt cx="914400" cy="5486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48640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2E7D5B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DATA ANALYSIS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028700"/>
            <a:ext cx="15773400" cy="1234440"/>
            <a:chOff x="0" y="0"/>
            <a:chExt cx="2103120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645920"/>
            </a:xfrm>
            <a:custGeom>
              <a:avLst/>
              <a:gdLst/>
              <a:ahLst/>
              <a:cxnLst/>
              <a:rect l="l" t="t" r="r" b="b"/>
              <a:pathLst>
                <a:path w="21031200" h="164592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03120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Exploratory Data Analysis - Snapshot</a:t>
              </a: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22960" y="2468880"/>
          <a:ext cx="9429751" cy="4581528"/>
        </p:xfrm>
        <a:graphic>
          <a:graphicData uri="http://schemas.openxmlformats.org/drawingml/2006/table">
            <a:tbl>
              <a:tblPr/>
              <a:tblGrid>
                <a:gridCol w="3674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8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2691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Service Feature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Mean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Median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Mode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691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Welcome / Check-in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3.64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4.0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Excellent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691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Standard of the Room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3.44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4.0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Excellent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691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Cleanliness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3.51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4.0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Excellent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691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Restaurant Service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3.50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4.0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Excellent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691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Quality Meals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3.41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4.0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Excellent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691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Attentiveness / Friendliness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3.63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4.0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Excellent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2691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Overall Rating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3.45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4.0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Excellent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914400" y="7698105"/>
            <a:ext cx="928116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i="1">
                <a:solidFill>
                  <a:srgbClr val="5C6B73"/>
                </a:solidFill>
                <a:latin typeface="Futura Italics"/>
                <a:ea typeface="Futura Italics"/>
                <a:cs typeface="Futura Italics"/>
                <a:sym typeface="Futura Italics"/>
              </a:rPr>
              <a:t>Median/mode consistently show Excellent - mean is shown for reference only, given the ordinal scale.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757535" y="2459355"/>
            <a:ext cx="6671310" cy="2350770"/>
            <a:chOff x="0" y="0"/>
            <a:chExt cx="8895080" cy="31343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95080" cy="3134360"/>
            </a:xfrm>
            <a:custGeom>
              <a:avLst/>
              <a:gdLst/>
              <a:ahLst/>
              <a:cxnLst/>
              <a:rect l="l" t="t" r="r" b="b"/>
              <a:pathLst>
                <a:path w="8895080" h="313436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8747633" y="0"/>
                  </a:lnTo>
                  <a:cubicBezTo>
                    <a:pt x="8829039" y="0"/>
                    <a:pt x="8895080" y="66040"/>
                    <a:pt x="8895080" y="147447"/>
                  </a:cubicBezTo>
                  <a:lnTo>
                    <a:pt x="8895080" y="2986913"/>
                  </a:lnTo>
                  <a:cubicBezTo>
                    <a:pt x="8895080" y="3068320"/>
                    <a:pt x="8829039" y="3134360"/>
                    <a:pt x="8747633" y="3134360"/>
                  </a:cubicBezTo>
                  <a:lnTo>
                    <a:pt x="147447" y="3134360"/>
                  </a:lnTo>
                  <a:cubicBezTo>
                    <a:pt x="66040" y="3134360"/>
                    <a:pt x="0" y="3068320"/>
                    <a:pt x="0" y="2986913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CFE3EA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109960" y="2674620"/>
            <a:ext cx="6035040" cy="548640"/>
            <a:chOff x="0" y="0"/>
            <a:chExt cx="804672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046720" cy="731520"/>
            </a:xfrm>
            <a:custGeom>
              <a:avLst/>
              <a:gdLst/>
              <a:ahLst/>
              <a:cxnLst/>
              <a:rect l="l" t="t" r="r" b="b"/>
              <a:pathLst>
                <a:path w="8046720" h="7315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0467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243E33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Spearman Correlation (Ordinal-Appropriate)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201400" y="3211830"/>
            <a:ext cx="5852160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875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Restaurant Service correlates most strongly with Overall Rating (r=0.74) and Quality Meals (r=0.73).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767060" y="5074920"/>
            <a:ext cx="6652260" cy="3429000"/>
            <a:chOff x="0" y="0"/>
            <a:chExt cx="8869680" cy="4572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869680" cy="4572000"/>
            </a:xfrm>
            <a:custGeom>
              <a:avLst/>
              <a:gdLst/>
              <a:ahLst/>
              <a:cxnLst/>
              <a:rect l="l" t="t" r="r" b="b"/>
              <a:pathLst>
                <a:path w="8869680" h="4572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723376" y="0"/>
                  </a:lnTo>
                  <a:cubicBezTo>
                    <a:pt x="8804148" y="0"/>
                    <a:pt x="8869680" y="65532"/>
                    <a:pt x="8869680" y="146304"/>
                  </a:cubicBezTo>
                  <a:lnTo>
                    <a:pt x="8869680" y="4425696"/>
                  </a:lnTo>
                  <a:cubicBezTo>
                    <a:pt x="8869680" y="4506468"/>
                    <a:pt x="8804148" y="4572000"/>
                    <a:pt x="8723376" y="4572000"/>
                  </a:cubicBezTo>
                  <a:lnTo>
                    <a:pt x="146304" y="4572000"/>
                  </a:lnTo>
                  <a:cubicBezTo>
                    <a:pt x="65532" y="4572000"/>
                    <a:pt x="0" y="4506468"/>
                    <a:pt x="0" y="4425696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1109960" y="5349240"/>
            <a:ext cx="6035040" cy="548640"/>
            <a:chOff x="0" y="0"/>
            <a:chExt cx="8046720" cy="731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046720" cy="731520"/>
            </a:xfrm>
            <a:custGeom>
              <a:avLst/>
              <a:gdLst/>
              <a:ahLst/>
              <a:cxnLst/>
              <a:rect l="l" t="t" r="r" b="b"/>
              <a:pathLst>
                <a:path w="8046720" h="7315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0467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Top Nationalities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201400" y="5945505"/>
            <a:ext cx="5852160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87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German (1,332) and British (1,261) dominate the sample, followed by Dutch, French, Italian, Belgian, Swiss, Danish, Austrian and Spanish guests (12 nationalities total).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7282160" y="9806940"/>
            <a:ext cx="685800" cy="411480"/>
            <a:chOff x="0" y="0"/>
            <a:chExt cx="914400" cy="5486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48640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2E7D5B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DATA ANALYSIS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028700"/>
            <a:ext cx="15773400" cy="1234440"/>
            <a:chOff x="0" y="0"/>
            <a:chExt cx="2103120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645920"/>
            </a:xfrm>
            <a:custGeom>
              <a:avLst/>
              <a:gdLst/>
              <a:ahLst/>
              <a:cxnLst/>
              <a:rect l="l" t="t" r="r" b="b"/>
              <a:pathLst>
                <a:path w="21031200" h="164592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03120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Distance Measure Comparison</a:t>
              </a:r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61" y="1984881"/>
            <a:ext cx="10548239" cy="7759552"/>
          </a:xfrm>
          <a:prstGeom prst="rect">
            <a:avLst/>
          </a:prstGeom>
        </p:spPr>
      </p:pic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0287000" y="2880360"/>
          <a:ext cx="7086600" cy="2743200"/>
        </p:xfrm>
        <a:graphic>
          <a:graphicData uri="http://schemas.openxmlformats.org/drawingml/2006/table">
            <a:tbl>
              <a:tblPr/>
              <a:tblGrid>
                <a:gridCol w="230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7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FFFFFF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Distance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FFFFFF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k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FFFFFF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Silhouette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FFFFFF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DBI (approx.)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Gower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0.5991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0.9645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Podani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0.6321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0.9870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2E7D5B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GDM2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2E7D5B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2E7D5B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0.6352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2E7D5B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0.9654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10277475" y="5888355"/>
            <a:ext cx="7151370" cy="3173730"/>
            <a:chOff x="0" y="0"/>
            <a:chExt cx="9535160" cy="42316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35161" cy="4231640"/>
            </a:xfrm>
            <a:custGeom>
              <a:avLst/>
              <a:gdLst/>
              <a:ahLst/>
              <a:cxnLst/>
              <a:rect l="l" t="t" r="r" b="b"/>
              <a:pathLst>
                <a:path w="9535161" h="42316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9387967" y="0"/>
                  </a:lnTo>
                  <a:cubicBezTo>
                    <a:pt x="9469248" y="0"/>
                    <a:pt x="9535161" y="65913"/>
                    <a:pt x="9535161" y="147193"/>
                  </a:cubicBezTo>
                  <a:lnTo>
                    <a:pt x="9535161" y="4084447"/>
                  </a:lnTo>
                  <a:cubicBezTo>
                    <a:pt x="9535161" y="4165727"/>
                    <a:pt x="9469248" y="4231640"/>
                    <a:pt x="938796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CFE3EA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629900" y="6103620"/>
            <a:ext cx="6446520" cy="548640"/>
            <a:chOff x="0" y="0"/>
            <a:chExt cx="859536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95360" cy="731520"/>
            </a:xfrm>
            <a:custGeom>
              <a:avLst/>
              <a:gdLst/>
              <a:ahLst/>
              <a:cxnLst/>
              <a:rect l="l" t="t" r="r" b="b"/>
              <a:pathLst>
                <a:path w="8595360" h="731520">
                  <a:moveTo>
                    <a:pt x="0" y="0"/>
                  </a:moveTo>
                  <a:lnTo>
                    <a:pt x="8595360" y="0"/>
                  </a:lnTo>
                  <a:lnTo>
                    <a:pt x="859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949" b="-17894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859536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GDM2 Selected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721340" y="6640830"/>
            <a:ext cx="6263640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875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Purpose-built for ordinal item-battery data; achieved the highest, most reliably-computed Silhouette Score across all three measures.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7282160" y="9806940"/>
            <a:ext cx="685800" cy="411480"/>
            <a:chOff x="0" y="0"/>
            <a:chExt cx="914400" cy="5486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9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6EBF11E-F316-8FF2-092D-38B6916C8C85}"/>
              </a:ext>
            </a:extLst>
          </p:cNvPr>
          <p:cNvSpPr txBox="1"/>
          <p:nvPr/>
        </p:nvSpPr>
        <p:spPr>
          <a:xfrm>
            <a:off x="1828800" y="5634454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0.5991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4C680E-4399-6580-3022-4E3135FDD1A8}"/>
              </a:ext>
            </a:extLst>
          </p:cNvPr>
          <p:cNvSpPr txBox="1"/>
          <p:nvPr/>
        </p:nvSpPr>
        <p:spPr>
          <a:xfrm>
            <a:off x="5257800" y="4774168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0.6321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A0D647-FF96-974F-9922-299CFA34073E}"/>
              </a:ext>
            </a:extLst>
          </p:cNvPr>
          <p:cNvSpPr txBox="1"/>
          <p:nvPr/>
        </p:nvSpPr>
        <p:spPr>
          <a:xfrm>
            <a:off x="8730264" y="465326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0.6352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48640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2E7D5B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DATA ANALYSIS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028700"/>
            <a:ext cx="15773400" cy="1234440"/>
            <a:chOff x="0" y="0"/>
            <a:chExt cx="2103120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645920"/>
            </a:xfrm>
            <a:custGeom>
              <a:avLst/>
              <a:gdLst/>
              <a:ahLst/>
              <a:cxnLst/>
              <a:rect l="l" t="t" r="r" b="b"/>
              <a:pathLst>
                <a:path w="21031200" h="164592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03120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Two Customer Segments Identified (GDM2, k=2)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606040"/>
            <a:ext cx="7886700" cy="6309360"/>
            <a:chOff x="0" y="0"/>
            <a:chExt cx="10515600" cy="84124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15600" cy="8412480"/>
            </a:xfrm>
            <a:custGeom>
              <a:avLst/>
              <a:gdLst/>
              <a:ahLst/>
              <a:cxnLst/>
              <a:rect l="l" t="t" r="r" b="b"/>
              <a:pathLst>
                <a:path w="10515600" h="8412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8266176"/>
                  </a:lnTo>
                  <a:cubicBezTo>
                    <a:pt x="10515600" y="8346948"/>
                    <a:pt x="10450068" y="8412480"/>
                    <a:pt x="1036929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34440" y="2948940"/>
            <a:ext cx="6995160" cy="685800"/>
            <a:chOff x="0" y="0"/>
            <a:chExt cx="932688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26880" cy="914400"/>
            </a:xfrm>
            <a:custGeom>
              <a:avLst/>
              <a:gdLst/>
              <a:ahLst/>
              <a:cxnLst/>
              <a:rect l="l" t="t" r="r" b="b"/>
              <a:pathLst>
                <a:path w="9326880" h="914400">
                  <a:moveTo>
                    <a:pt x="0" y="0"/>
                  </a:moveTo>
                  <a:lnTo>
                    <a:pt x="9326880" y="0"/>
                  </a:lnTo>
                  <a:lnTo>
                    <a:pt x="9326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747" b="-148747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93268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Segment 0 - Highly Satisfied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34440" y="3703320"/>
            <a:ext cx="4114800" cy="1876501"/>
            <a:chOff x="0" y="0"/>
            <a:chExt cx="5486400" cy="25020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486400" cy="2502002"/>
            </a:xfrm>
            <a:custGeom>
              <a:avLst/>
              <a:gdLst/>
              <a:ahLst/>
              <a:cxnLst/>
              <a:rect l="l" t="t" r="r" b="b"/>
              <a:pathLst>
                <a:path w="5486400" h="2502002">
                  <a:moveTo>
                    <a:pt x="0" y="0"/>
                  </a:moveTo>
                  <a:lnTo>
                    <a:pt x="5486400" y="0"/>
                  </a:lnTo>
                  <a:lnTo>
                    <a:pt x="5486400" y="2502002"/>
                  </a:lnTo>
                  <a:lnTo>
                    <a:pt x="0" y="25020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25" b="17071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5486400" cy="2492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360"/>
                </a:lnSpc>
              </a:pPr>
              <a:r>
                <a:rPr lang="en-US" sz="78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60.9%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4440" y="5143500"/>
            <a:ext cx="4114800" cy="548640"/>
            <a:chOff x="0" y="0"/>
            <a:chExt cx="54864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86400" cy="731520"/>
            </a:xfrm>
            <a:custGeom>
              <a:avLst/>
              <a:gdLst/>
              <a:ahLst/>
              <a:cxnLst/>
              <a:rect l="l" t="t" r="r" b="b"/>
              <a:pathLst>
                <a:path w="5486400" h="73152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1,966 reviews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25880" y="5848350"/>
            <a:ext cx="6812280" cy="765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6474" lvl="1" indent="-183237" algn="l">
              <a:lnSpc>
                <a:spcPts val="2999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Median/Mode: Excellent on every feature</a:t>
            </a:r>
          </a:p>
          <a:p>
            <a:pPr marL="366474" lvl="1" indent="-183237" algn="l">
              <a:lnSpc>
                <a:spcPts val="2999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Overall Rating mean: 3.90 (median 4)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052560" y="2606040"/>
            <a:ext cx="7886700" cy="6309360"/>
            <a:chOff x="0" y="0"/>
            <a:chExt cx="10515600" cy="84124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15600" cy="8412480"/>
            </a:xfrm>
            <a:custGeom>
              <a:avLst/>
              <a:gdLst/>
              <a:ahLst/>
              <a:cxnLst/>
              <a:rect l="l" t="t" r="r" b="b"/>
              <a:pathLst>
                <a:path w="10515600" h="8412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8266176"/>
                  </a:lnTo>
                  <a:cubicBezTo>
                    <a:pt x="10515600" y="8346948"/>
                    <a:pt x="10450068" y="8412480"/>
                    <a:pt x="1036929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799388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464040" y="2948940"/>
            <a:ext cx="6995160" cy="685800"/>
            <a:chOff x="0" y="0"/>
            <a:chExt cx="9326880" cy="91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326880" cy="914400"/>
            </a:xfrm>
            <a:custGeom>
              <a:avLst/>
              <a:gdLst/>
              <a:ahLst/>
              <a:cxnLst/>
              <a:rect l="l" t="t" r="r" b="b"/>
              <a:pathLst>
                <a:path w="9326880" h="914400">
                  <a:moveTo>
                    <a:pt x="0" y="0"/>
                  </a:moveTo>
                  <a:lnTo>
                    <a:pt x="9326880" y="0"/>
                  </a:lnTo>
                  <a:lnTo>
                    <a:pt x="9326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747" b="-148747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93268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Segment 1 - Moderately Satisfied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64040" y="3703320"/>
            <a:ext cx="4114800" cy="1876501"/>
            <a:chOff x="0" y="0"/>
            <a:chExt cx="5486400" cy="250200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86400" cy="2502002"/>
            </a:xfrm>
            <a:custGeom>
              <a:avLst/>
              <a:gdLst/>
              <a:ahLst/>
              <a:cxnLst/>
              <a:rect l="l" t="t" r="r" b="b"/>
              <a:pathLst>
                <a:path w="5486400" h="2502002">
                  <a:moveTo>
                    <a:pt x="0" y="0"/>
                  </a:moveTo>
                  <a:lnTo>
                    <a:pt x="5486400" y="0"/>
                  </a:lnTo>
                  <a:lnTo>
                    <a:pt x="5486400" y="2502002"/>
                  </a:lnTo>
                  <a:lnTo>
                    <a:pt x="0" y="25020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25" b="17071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9525"/>
              <a:ext cx="5486400" cy="2492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360"/>
                </a:lnSpc>
              </a:pPr>
              <a:r>
                <a:rPr lang="en-US" sz="78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39.1%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464040" y="5143500"/>
            <a:ext cx="4114800" cy="548640"/>
            <a:chOff x="0" y="0"/>
            <a:chExt cx="5486400" cy="7315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86400" cy="731520"/>
            </a:xfrm>
            <a:custGeom>
              <a:avLst/>
              <a:gdLst/>
              <a:ahLst/>
              <a:cxnLst/>
              <a:rect l="l" t="t" r="r" b="b"/>
              <a:pathLst>
                <a:path w="5486400" h="73152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1,264 reviews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555480" y="5848350"/>
            <a:ext cx="6812280" cy="765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6474" lvl="1" indent="-183237" algn="l">
              <a:lnSpc>
                <a:spcPts val="2999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Median/Mode: Good on every feature</a:t>
            </a:r>
          </a:p>
          <a:p>
            <a:pPr marL="366474" lvl="1" indent="-183237" algn="l">
              <a:lnSpc>
                <a:spcPts val="2999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Overall Rating mean: 2.75 (median 3)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822960" y="9121140"/>
            <a:ext cx="16184880" cy="685800"/>
            <a:chOff x="0" y="0"/>
            <a:chExt cx="2157984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579839" cy="914400"/>
            </a:xfrm>
            <a:custGeom>
              <a:avLst/>
              <a:gdLst/>
              <a:ahLst/>
              <a:cxnLst/>
              <a:rect l="l" t="t" r="r" b="b"/>
              <a:pathLst>
                <a:path w="21579839" h="914400">
                  <a:moveTo>
                    <a:pt x="0" y="0"/>
                  </a:moveTo>
                  <a:lnTo>
                    <a:pt x="21579839" y="0"/>
                  </a:lnTo>
                  <a:lnTo>
                    <a:pt x="215798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846" b="-40984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2157984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>
                  <a:solidFill>
                    <a:srgbClr val="5C6B73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Overall Rating tracks consistently with feature-level ratings in both segments - strong internal validation that the clustering is meaningful.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282160" y="9806940"/>
            <a:ext cx="685800" cy="411480"/>
            <a:chOff x="0" y="0"/>
            <a:chExt cx="914400" cy="5486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48640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2E7D5B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DATA ANALYSIS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028700"/>
            <a:ext cx="15773400" cy="1234440"/>
            <a:chOff x="0" y="0"/>
            <a:chExt cx="2103120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645920"/>
            </a:xfrm>
            <a:custGeom>
              <a:avLst/>
              <a:gdLst/>
              <a:ahLst/>
              <a:cxnLst/>
              <a:rect l="l" t="t" r="r" b="b"/>
              <a:pathLst>
                <a:path w="21031200" h="164592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03120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Which Features Differentiate the Segments Most?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331720"/>
            <a:ext cx="16184880" cy="685800"/>
            <a:chOff x="0" y="0"/>
            <a:chExt cx="2157984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579839" cy="914400"/>
            </a:xfrm>
            <a:custGeom>
              <a:avLst/>
              <a:gdLst/>
              <a:ahLst/>
              <a:cxnLst/>
              <a:rect l="l" t="t" r="r" b="b"/>
              <a:pathLst>
                <a:path w="21579839" h="914400">
                  <a:moveTo>
                    <a:pt x="0" y="0"/>
                  </a:moveTo>
                  <a:lnTo>
                    <a:pt x="21579839" y="0"/>
                  </a:lnTo>
                  <a:lnTo>
                    <a:pt x="215798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846" b="-40984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57984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1A"/>
                  </a:solidFill>
                  <a:latin typeface="Futura"/>
                  <a:ea typeface="Futura"/>
                  <a:cs typeface="Futura"/>
                  <a:sym typeface="Futura"/>
                </a:rPr>
                <a:t>Top-Box % (rating Good or Excellent) by segment - the ordinal-appropriate alternative to a mean-based gap:</a:t>
              </a:r>
            </a:p>
          </p:txBody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822960" y="3223260"/>
          <a:ext cx="10953749" cy="4800600"/>
        </p:xfrm>
        <a:graphic>
          <a:graphicData uri="http://schemas.openxmlformats.org/drawingml/2006/table">
            <a:tbl>
              <a:tblPr/>
              <a:tblGrid>
                <a:gridCol w="4364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6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Service Feature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Segment 0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Segment 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Gap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1A1A1A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Quality Meals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98.6%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69.2%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C85105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29.4 pp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1A1A1A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Standard of the Room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98.8%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72.2%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5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75" b="1" u="none" strike="noStrike">
                          <a:solidFill>
                            <a:srgbClr val="C85105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26.6 pp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1A1A1A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Restaurant Service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99.6%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74.3%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5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75" b="1" u="none" strike="noStrike">
                          <a:solidFill>
                            <a:srgbClr val="C85105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25.3 pp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Cleanliness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99.6%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78.6%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21.0 pp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Attentiveness/Friendliness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99.7%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84.5%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15.2 pp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Welcome/Check-in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99.4%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86.3%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13.1 pp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12266295" y="3213735"/>
            <a:ext cx="5162550" cy="4810125"/>
            <a:chOff x="0" y="0"/>
            <a:chExt cx="6883400" cy="6413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83400" cy="6413500"/>
            </a:xfrm>
            <a:custGeom>
              <a:avLst/>
              <a:gdLst/>
              <a:ahLst/>
              <a:cxnLst/>
              <a:rect l="l" t="t" r="r" b="b"/>
              <a:pathLst>
                <a:path w="6883400" h="6413500">
                  <a:moveTo>
                    <a:pt x="0" y="123649"/>
                  </a:moveTo>
                  <a:cubicBezTo>
                    <a:pt x="0" y="55407"/>
                    <a:pt x="65786" y="0"/>
                    <a:pt x="146812" y="0"/>
                  </a:cubicBezTo>
                  <a:lnTo>
                    <a:pt x="6736588" y="0"/>
                  </a:lnTo>
                  <a:cubicBezTo>
                    <a:pt x="6817614" y="0"/>
                    <a:pt x="6883400" y="55407"/>
                    <a:pt x="6883400" y="123649"/>
                  </a:cubicBezTo>
                  <a:lnTo>
                    <a:pt x="6883400" y="6289851"/>
                  </a:lnTo>
                  <a:cubicBezTo>
                    <a:pt x="6883400" y="6358093"/>
                    <a:pt x="6817614" y="6413500"/>
                    <a:pt x="6736588" y="6413500"/>
                  </a:cubicBezTo>
                  <a:lnTo>
                    <a:pt x="146812" y="6413500"/>
                  </a:lnTo>
                  <a:cubicBezTo>
                    <a:pt x="65786" y="6413500"/>
                    <a:pt x="0" y="6358093"/>
                    <a:pt x="0" y="6289851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CFE3EA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2618720" y="3497580"/>
            <a:ext cx="4457700" cy="548640"/>
            <a:chOff x="0" y="0"/>
            <a:chExt cx="5943600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943600" cy="731520"/>
            </a:xfrm>
            <a:custGeom>
              <a:avLst/>
              <a:gdLst/>
              <a:ahLst/>
              <a:cxnLst/>
              <a:rect l="l" t="t" r="r" b="b"/>
              <a:pathLst>
                <a:path w="5943600" h="73152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59436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Key Insight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618720" y="4465320"/>
            <a:ext cx="4274820" cy="973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195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Dining experience (Quality Meals, Restaurant Service) shows the largest gap between segments.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18720" y="5857876"/>
            <a:ext cx="4274820" cy="973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195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Check-in and staff friendliness remain strong even in the less-satisfied segment.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7282160" y="9806940"/>
            <a:ext cx="685800" cy="411480"/>
            <a:chOff x="0" y="0"/>
            <a:chExt cx="91440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48640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2E7D5B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DATA ANALYSIS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028700"/>
            <a:ext cx="15773400" cy="1234440"/>
            <a:chOff x="0" y="0"/>
            <a:chExt cx="2103120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645920"/>
            </a:xfrm>
            <a:custGeom>
              <a:avLst/>
              <a:gdLst/>
              <a:ahLst/>
              <a:cxnLst/>
              <a:rect l="l" t="t" r="r" b="b"/>
              <a:pathLst>
                <a:path w="21031200" h="164592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03120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Kruskal-Wallis Test: Are the Segments Significantly Different?</a:t>
              </a: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22960" y="2537460"/>
          <a:ext cx="9563100" cy="5791200"/>
        </p:xfrm>
        <a:graphic>
          <a:graphicData uri="http://schemas.openxmlformats.org/drawingml/2006/table">
            <a:tbl>
              <a:tblPr/>
              <a:tblGrid>
                <a:gridCol w="4632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Service Feature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p-value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Effect Size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1A1A1A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Overall Rating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&lt; 0.001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2E7D5B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0.653 (Large)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1A1A1A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Restaurant Service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&lt; 0.001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25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75" b="1" u="none" strike="noStrike">
                          <a:solidFill>
                            <a:srgbClr val="2E7D5B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0.609 (Large)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Cleanliness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&lt; 0.001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0.533 (Large)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Quality Meals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&lt; 0.001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0.497 (Large)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Standard of the Room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&lt; 0.001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0.475 (Large)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Attentiveness/Friendliness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&lt; 0.001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0.475 (Large)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Welcome/Check-in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&lt; 0.001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0.439 (Large)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10835640" y="2537460"/>
            <a:ext cx="6583680" cy="2743200"/>
            <a:chOff x="0" y="0"/>
            <a:chExt cx="8778240" cy="3657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778240" cy="3657600"/>
            </a:xfrm>
            <a:custGeom>
              <a:avLst/>
              <a:gdLst/>
              <a:ahLst/>
              <a:cxnLst/>
              <a:rect l="l" t="t" r="r" b="b"/>
              <a:pathLst>
                <a:path w="8778240" h="3657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631936" y="0"/>
                  </a:lnTo>
                  <a:cubicBezTo>
                    <a:pt x="8712708" y="0"/>
                    <a:pt x="8778240" y="65532"/>
                    <a:pt x="8778240" y="146304"/>
                  </a:cubicBezTo>
                  <a:lnTo>
                    <a:pt x="8778240" y="3511296"/>
                  </a:lnTo>
                  <a:cubicBezTo>
                    <a:pt x="8778240" y="3592068"/>
                    <a:pt x="8712708" y="3657600"/>
                    <a:pt x="8631936" y="3657600"/>
                  </a:cubicBezTo>
                  <a:lnTo>
                    <a:pt x="146304" y="3657600"/>
                  </a:lnTo>
                  <a:cubicBezTo>
                    <a:pt x="65532" y="3657600"/>
                    <a:pt x="0" y="3592068"/>
                    <a:pt x="0" y="3511296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1178540" y="2811780"/>
            <a:ext cx="5897880" cy="685800"/>
            <a:chOff x="0" y="0"/>
            <a:chExt cx="7863840" cy="914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63840" cy="914400"/>
            </a:xfrm>
            <a:custGeom>
              <a:avLst/>
              <a:gdLst/>
              <a:ahLst/>
              <a:cxnLst/>
              <a:rect l="l" t="t" r="r" b="b"/>
              <a:pathLst>
                <a:path w="7863840" h="914400">
                  <a:moveTo>
                    <a:pt x="0" y="0"/>
                  </a:moveTo>
                  <a:lnTo>
                    <a:pt x="7863840" y="0"/>
                  </a:lnTo>
                  <a:lnTo>
                    <a:pt x="7863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571" b="-117571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78638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All 7 tests significant (p&lt;0.001)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269980" y="3486150"/>
            <a:ext cx="5715000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87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Effect sizes all exceed 0.14 - the 'large effect' threshold - confirming substantial, not just statistically detectable, differences.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826115" y="5545455"/>
            <a:ext cx="6602730" cy="3379470"/>
            <a:chOff x="0" y="0"/>
            <a:chExt cx="8803640" cy="45059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803640" cy="4505960"/>
            </a:xfrm>
            <a:custGeom>
              <a:avLst/>
              <a:gdLst/>
              <a:ahLst/>
              <a:cxnLst/>
              <a:rect l="l" t="t" r="r" b="b"/>
              <a:pathLst>
                <a:path w="8803640" h="450596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8656574" y="0"/>
                  </a:lnTo>
                  <a:cubicBezTo>
                    <a:pt x="8737854" y="0"/>
                    <a:pt x="8803640" y="65913"/>
                    <a:pt x="8803640" y="147066"/>
                  </a:cubicBezTo>
                  <a:lnTo>
                    <a:pt x="8803640" y="4358894"/>
                  </a:lnTo>
                  <a:cubicBezTo>
                    <a:pt x="8803640" y="4440174"/>
                    <a:pt x="8737727" y="4505960"/>
                    <a:pt x="8656574" y="4505960"/>
                  </a:cubicBezTo>
                  <a:lnTo>
                    <a:pt x="147066" y="4505960"/>
                  </a:lnTo>
                  <a:cubicBezTo>
                    <a:pt x="65913" y="4505960"/>
                    <a:pt x="0" y="4440047"/>
                    <a:pt x="0" y="4358894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CFE3EA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1178540" y="5829300"/>
            <a:ext cx="5897880" cy="548640"/>
            <a:chOff x="0" y="0"/>
            <a:chExt cx="786384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63840" cy="731520"/>
            </a:xfrm>
            <a:custGeom>
              <a:avLst/>
              <a:gdLst/>
              <a:ahLst/>
              <a:cxnLst/>
              <a:rect l="l" t="t" r="r" b="b"/>
              <a:pathLst>
                <a:path w="7863840" h="731520">
                  <a:moveTo>
                    <a:pt x="0" y="0"/>
                  </a:moveTo>
                  <a:lnTo>
                    <a:pt x="7863840" y="0"/>
                  </a:lnTo>
                  <a:lnTo>
                    <a:pt x="7863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464" b="-159464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786384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H0 Rejected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269980" y="6366510"/>
            <a:ext cx="5715000" cy="973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1950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Segments differ significantly across every feature and Overall Rating - the alternative hypothesis (H1) is accepted.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7282160" y="9806940"/>
            <a:ext cx="685800" cy="411480"/>
            <a:chOff x="0" y="0"/>
            <a:chExt cx="914400" cy="5486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48640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2E7D5B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DISCUSSION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028700"/>
            <a:ext cx="15773400" cy="1234440"/>
            <a:chOff x="0" y="0"/>
            <a:chExt cx="2103120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645920"/>
            </a:xfrm>
            <a:custGeom>
              <a:avLst/>
              <a:gdLst/>
              <a:ahLst/>
              <a:cxnLst/>
              <a:rect l="l" t="t" r="r" b="b"/>
              <a:pathLst>
                <a:path w="21031200" h="164592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03120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Discussion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537460"/>
            <a:ext cx="754380" cy="754380"/>
            <a:chOff x="0" y="0"/>
            <a:chExt cx="1005840" cy="1005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22960" y="2537460"/>
            <a:ext cx="754380" cy="754380"/>
            <a:chOff x="0" y="0"/>
            <a:chExt cx="1005840" cy="1005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20240" y="2468880"/>
            <a:ext cx="14813280" cy="575920"/>
            <a:chOff x="0" y="0"/>
            <a:chExt cx="19751040" cy="7678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751039" cy="767893"/>
            </a:xfrm>
            <a:custGeom>
              <a:avLst/>
              <a:gdLst/>
              <a:ahLst/>
              <a:cxnLst/>
              <a:rect l="l" t="t" r="r" b="b"/>
              <a:pathLst>
                <a:path w="19751039" h="767893">
                  <a:moveTo>
                    <a:pt x="0" y="0"/>
                  </a:moveTo>
                  <a:lnTo>
                    <a:pt x="19751039" y="0"/>
                  </a:lnTo>
                  <a:lnTo>
                    <a:pt x="19751039" y="767893"/>
                  </a:lnTo>
                  <a:lnTo>
                    <a:pt x="0" y="7678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3544" b="-44880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9751040" cy="7678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Theory Confirmed Empirically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011680" y="3074670"/>
            <a:ext cx="1463040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2025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Silhouette Score improved monotonically: Gower to Podani to GDM2, matching each measure's increasingly rigorous treatment of ordinality.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22960" y="4663440"/>
            <a:ext cx="754380" cy="754380"/>
            <a:chOff x="0" y="0"/>
            <a:chExt cx="1005840" cy="10058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22960" y="4663440"/>
            <a:ext cx="754380" cy="754380"/>
            <a:chOff x="0" y="0"/>
            <a:chExt cx="1005840" cy="10058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920240" y="4594860"/>
            <a:ext cx="14813280" cy="575920"/>
            <a:chOff x="0" y="0"/>
            <a:chExt cx="19751040" cy="7678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751039" cy="767893"/>
            </a:xfrm>
            <a:custGeom>
              <a:avLst/>
              <a:gdLst/>
              <a:ahLst/>
              <a:cxnLst/>
              <a:rect l="l" t="t" r="r" b="b"/>
              <a:pathLst>
                <a:path w="19751039" h="767893">
                  <a:moveTo>
                    <a:pt x="0" y="0"/>
                  </a:moveTo>
                  <a:lnTo>
                    <a:pt x="19751039" y="0"/>
                  </a:lnTo>
                  <a:lnTo>
                    <a:pt x="19751039" y="767893"/>
                  </a:lnTo>
                  <a:lnTo>
                    <a:pt x="0" y="7678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3544" b="-44880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9751040" cy="7678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Structure is Robust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011680" y="5200650"/>
            <a:ext cx="1463040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2025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All three distance measures independently converged on a two-segment structure, though the exact customer assignment shifted with the distance measure used.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22960" y="6789420"/>
            <a:ext cx="754380" cy="754380"/>
            <a:chOff x="0" y="0"/>
            <a:chExt cx="1005840" cy="10058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920240" y="6720840"/>
            <a:ext cx="14813280" cy="575920"/>
            <a:chOff x="0" y="0"/>
            <a:chExt cx="19751040" cy="76789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751039" cy="767893"/>
            </a:xfrm>
            <a:custGeom>
              <a:avLst/>
              <a:gdLst/>
              <a:ahLst/>
              <a:cxnLst/>
              <a:rect l="l" t="t" r="r" b="b"/>
              <a:pathLst>
                <a:path w="19751039" h="767893">
                  <a:moveTo>
                    <a:pt x="0" y="0"/>
                  </a:moveTo>
                  <a:lnTo>
                    <a:pt x="19751039" y="0"/>
                  </a:lnTo>
                  <a:lnTo>
                    <a:pt x="19751039" y="767893"/>
                  </a:lnTo>
                  <a:lnTo>
                    <a:pt x="0" y="7678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3544" b="-448808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9751040" cy="7678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Dining Drives Dissatisfaction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011680" y="7326630"/>
            <a:ext cx="146304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2025">
                <a:solidFill>
                  <a:srgbClr val="1A1A1A"/>
                </a:solidFill>
                <a:latin typeface="Futura"/>
                <a:ea typeface="Futura"/>
                <a:cs typeface="Futura"/>
                <a:sym typeface="Futura"/>
              </a:rPr>
              <a:t>Quality Meals and Restaurant Service are the clearest differentiators - check-in and staff friendliness remain consistently strong.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7282160" y="9806940"/>
            <a:ext cx="685800" cy="411480"/>
            <a:chOff x="0" y="0"/>
            <a:chExt cx="914400" cy="5486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13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22960" y="6783705"/>
            <a:ext cx="754380" cy="754380"/>
            <a:chOff x="0" y="0"/>
            <a:chExt cx="1005840" cy="10058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48640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2E7D5B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RECOMMENDATIONS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028700"/>
            <a:ext cx="15773400" cy="1234440"/>
            <a:chOff x="0" y="0"/>
            <a:chExt cx="2103120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645920"/>
            </a:xfrm>
            <a:custGeom>
              <a:avLst/>
              <a:gdLst/>
              <a:ahLst/>
              <a:cxnLst/>
              <a:rect l="l" t="t" r="r" b="b"/>
              <a:pathLst>
                <a:path w="21031200" h="164592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975" b="-1989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03120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Recommendations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3435" y="3076575"/>
            <a:ext cx="16203930" cy="1459230"/>
            <a:chOff x="0" y="0"/>
            <a:chExt cx="21605240" cy="1945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605241" cy="1945640"/>
            </a:xfrm>
            <a:custGeom>
              <a:avLst/>
              <a:gdLst/>
              <a:ahLst/>
              <a:cxnLst/>
              <a:rect l="l" t="t" r="r" b="b"/>
              <a:pathLst>
                <a:path w="21605241" h="194564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1457031" y="0"/>
                  </a:lnTo>
                  <a:cubicBezTo>
                    <a:pt x="21538946" y="0"/>
                    <a:pt x="21605241" y="66421"/>
                    <a:pt x="21605241" y="148209"/>
                  </a:cubicBezTo>
                  <a:lnTo>
                    <a:pt x="21605241" y="1797431"/>
                  </a:lnTo>
                  <a:cubicBezTo>
                    <a:pt x="21605241" y="1879346"/>
                    <a:pt x="21538819" y="1945640"/>
                    <a:pt x="214570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CFE3EA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165860" y="3429000"/>
            <a:ext cx="685800" cy="685800"/>
            <a:chOff x="0" y="0"/>
            <a:chExt cx="91440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165860" y="3429000"/>
            <a:ext cx="685800" cy="685800"/>
            <a:chOff x="0" y="0"/>
            <a:chExt cx="914400" cy="91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125980" y="3086100"/>
            <a:ext cx="14538960" cy="1440180"/>
            <a:chOff x="0" y="0"/>
            <a:chExt cx="19385280" cy="19202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385280" cy="1920240"/>
            </a:xfrm>
            <a:custGeom>
              <a:avLst/>
              <a:gdLst/>
              <a:ahLst/>
              <a:cxnLst/>
              <a:rect l="l" t="t" r="r" b="b"/>
              <a:pathLst>
                <a:path w="19385280" h="1920240">
                  <a:moveTo>
                    <a:pt x="0" y="0"/>
                  </a:moveTo>
                  <a:lnTo>
                    <a:pt x="19385280" y="0"/>
                  </a:lnTo>
                  <a:lnTo>
                    <a:pt x="193852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706" b="-146706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9385280" cy="1977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9"/>
                </a:lnSpc>
              </a:pPr>
              <a:r>
                <a:rPr lang="en-US" sz="2100">
                  <a:solidFill>
                    <a:srgbClr val="1A1A1A"/>
                  </a:solidFill>
                  <a:latin typeface="Futura"/>
                  <a:ea typeface="Futura"/>
                  <a:cs typeface="Futura"/>
                  <a:sym typeface="Futura"/>
                </a:rPr>
                <a:t>Prioritise Quality Meals &amp; Restaurant Service improvements - largest impact on overall satisfaction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13435" y="4722495"/>
            <a:ext cx="16203930" cy="1459230"/>
            <a:chOff x="0" y="0"/>
            <a:chExt cx="21605240" cy="1945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605241" cy="1945640"/>
            </a:xfrm>
            <a:custGeom>
              <a:avLst/>
              <a:gdLst/>
              <a:ahLst/>
              <a:cxnLst/>
              <a:rect l="l" t="t" r="r" b="b"/>
              <a:pathLst>
                <a:path w="21605241" h="194564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1457031" y="0"/>
                  </a:lnTo>
                  <a:cubicBezTo>
                    <a:pt x="21538946" y="0"/>
                    <a:pt x="21605241" y="66421"/>
                    <a:pt x="21605241" y="148209"/>
                  </a:cubicBezTo>
                  <a:lnTo>
                    <a:pt x="21605241" y="1797431"/>
                  </a:lnTo>
                  <a:cubicBezTo>
                    <a:pt x="21605241" y="1879346"/>
                    <a:pt x="21538819" y="1945640"/>
                    <a:pt x="214570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FE3EA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165860" y="5074920"/>
            <a:ext cx="685800" cy="685800"/>
            <a:chOff x="0" y="0"/>
            <a:chExt cx="914400" cy="914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165860" y="5074920"/>
            <a:ext cx="685800" cy="685800"/>
            <a:chOff x="0" y="0"/>
            <a:chExt cx="914400" cy="91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125980" y="4732020"/>
            <a:ext cx="14538960" cy="1440180"/>
            <a:chOff x="0" y="0"/>
            <a:chExt cx="19385280" cy="19202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385280" cy="1920240"/>
            </a:xfrm>
            <a:custGeom>
              <a:avLst/>
              <a:gdLst/>
              <a:ahLst/>
              <a:cxnLst/>
              <a:rect l="l" t="t" r="r" b="b"/>
              <a:pathLst>
                <a:path w="19385280" h="1920240">
                  <a:moveTo>
                    <a:pt x="0" y="0"/>
                  </a:moveTo>
                  <a:lnTo>
                    <a:pt x="19385280" y="0"/>
                  </a:lnTo>
                  <a:lnTo>
                    <a:pt x="193852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706" b="-146706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9385280" cy="1977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9"/>
                </a:lnSpc>
              </a:pPr>
              <a:r>
                <a:rPr lang="en-US" sz="2100">
                  <a:solidFill>
                    <a:srgbClr val="1A1A1A"/>
                  </a:solidFill>
                  <a:latin typeface="Futura"/>
                  <a:ea typeface="Futura"/>
                  <a:cs typeface="Futura"/>
                  <a:sym typeface="Futura"/>
                </a:rPr>
                <a:t>Adopt GDM2 as the preferred distance measure for future ordinal hospitality segmentation studies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13435" y="6368415"/>
            <a:ext cx="16203930" cy="1459230"/>
            <a:chOff x="0" y="0"/>
            <a:chExt cx="21605240" cy="1945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605241" cy="1945640"/>
            </a:xfrm>
            <a:custGeom>
              <a:avLst/>
              <a:gdLst/>
              <a:ahLst/>
              <a:cxnLst/>
              <a:rect l="l" t="t" r="r" b="b"/>
              <a:pathLst>
                <a:path w="21605241" h="194564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1457031" y="0"/>
                  </a:lnTo>
                  <a:cubicBezTo>
                    <a:pt x="21538946" y="0"/>
                    <a:pt x="21605241" y="66421"/>
                    <a:pt x="21605241" y="148209"/>
                  </a:cubicBezTo>
                  <a:lnTo>
                    <a:pt x="21605241" y="1797431"/>
                  </a:lnTo>
                  <a:cubicBezTo>
                    <a:pt x="21605241" y="1879346"/>
                    <a:pt x="21538819" y="1945640"/>
                    <a:pt x="214570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CFE3EA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165860" y="6720840"/>
            <a:ext cx="685800" cy="685800"/>
            <a:chOff x="0" y="0"/>
            <a:chExt cx="914400" cy="914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165860" y="6720840"/>
            <a:ext cx="685800" cy="685800"/>
            <a:chOff x="0" y="0"/>
            <a:chExt cx="91440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125980" y="6377940"/>
            <a:ext cx="14538960" cy="1440180"/>
            <a:chOff x="0" y="0"/>
            <a:chExt cx="19385280" cy="19202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9385280" cy="1920240"/>
            </a:xfrm>
            <a:custGeom>
              <a:avLst/>
              <a:gdLst/>
              <a:ahLst/>
              <a:cxnLst/>
              <a:rect l="l" t="t" r="r" b="b"/>
              <a:pathLst>
                <a:path w="19385280" h="1920240">
                  <a:moveTo>
                    <a:pt x="0" y="0"/>
                  </a:moveTo>
                  <a:lnTo>
                    <a:pt x="19385280" y="0"/>
                  </a:lnTo>
                  <a:lnTo>
                    <a:pt x="193852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706" b="-146706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19385280" cy="1977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9"/>
                </a:lnSpc>
              </a:pPr>
              <a:r>
                <a:rPr lang="en-US" sz="2100">
                  <a:solidFill>
                    <a:srgbClr val="1A1A1A"/>
                  </a:solidFill>
                  <a:latin typeface="Futura"/>
                  <a:ea typeface="Futura"/>
                  <a:cs typeface="Futura"/>
                  <a:sym typeface="Futura"/>
                </a:rPr>
                <a:t>Extend future research to examine segment association with nationality, and explore Latent Class Analysis as a model-based alternative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7282160" y="9806940"/>
            <a:ext cx="685800" cy="411480"/>
            <a:chOff x="0" y="0"/>
            <a:chExt cx="914400" cy="5486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5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960120"/>
            <a:ext cx="8229600" cy="548640"/>
            <a:chOff x="0" y="0"/>
            <a:chExt cx="109728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spc="299">
                  <a:solidFill>
                    <a:srgbClr val="CFE3EA"/>
                  </a:solidFill>
                  <a:latin typeface="Futura"/>
                  <a:ea typeface="Futura"/>
                  <a:cs typeface="Futura"/>
                  <a:sym typeface="Futura"/>
                </a:rPr>
                <a:t>CONCLUSION</a:t>
              </a:r>
            </a:p>
          </p:txBody>
        </p:sp>
      </p:grpSp>
      <p:sp>
        <p:nvSpPr>
          <p:cNvPr id="5" name="Freeform 5"/>
          <p:cNvSpPr/>
          <p:nvPr/>
        </p:nvSpPr>
        <p:spPr>
          <a:xfrm flipH="1" flipV="1">
            <a:off x="12535375" y="0"/>
            <a:ext cx="5752625" cy="3048891"/>
          </a:xfrm>
          <a:custGeom>
            <a:avLst/>
            <a:gdLst/>
            <a:ahLst/>
            <a:cxnLst/>
            <a:rect l="l" t="t" r="r" b="b"/>
            <a:pathLst>
              <a:path w="5752625" h="3048891">
                <a:moveTo>
                  <a:pt x="5752625" y="3048891"/>
                </a:moveTo>
                <a:lnTo>
                  <a:pt x="0" y="3048891"/>
                </a:lnTo>
                <a:lnTo>
                  <a:pt x="0" y="0"/>
                </a:lnTo>
                <a:lnTo>
                  <a:pt x="5752625" y="0"/>
                </a:lnTo>
                <a:lnTo>
                  <a:pt x="5752625" y="3048891"/>
                </a:lnTo>
                <a:close/>
              </a:path>
            </a:pathLst>
          </a:custGeom>
          <a:blipFill>
            <a:blip>
              <a:alphaModFix amt="8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188720" y="1701165"/>
            <a:ext cx="15590520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GDM2 identified the most valid, interpretable customer segments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8720" y="3488055"/>
            <a:ext cx="15590520" cy="368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CFE3EA"/>
                </a:solidFill>
                <a:latin typeface="Futura"/>
                <a:ea typeface="Futura"/>
                <a:cs typeface="Futura"/>
                <a:sym typeface="Futura"/>
              </a:rPr>
              <a:t>Two robust segments confirmed across all three distance measures and validated by Kruskal-Wallis testing (large effect sizes throughout).</a:t>
            </a:r>
          </a:p>
          <a:p>
            <a:pPr algn="l">
              <a:lnSpc>
                <a:spcPts val="3600"/>
              </a:lnSpc>
            </a:pPr>
            <a:endParaRPr lang="en-US" sz="2400">
              <a:solidFill>
                <a:srgbClr val="CFE3EA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l">
              <a:lnSpc>
                <a:spcPts val="3600"/>
              </a:lnSpc>
            </a:pPr>
            <a:endParaRPr lang="en-US" sz="2400">
              <a:solidFill>
                <a:srgbClr val="CFE3EA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CFE3EA"/>
                </a:solidFill>
                <a:latin typeface="Futura"/>
                <a:ea typeface="Futura"/>
                <a:cs typeface="Futura"/>
                <a:sym typeface="Futura"/>
              </a:rPr>
              <a:t>Provides House of Travels &amp; Tourism (Pvt) Ltd with an empirically grounded basis for prioritising service improvements.</a:t>
            </a:r>
          </a:p>
          <a:p>
            <a:pPr algn="l">
              <a:lnSpc>
                <a:spcPts val="3600"/>
              </a:lnSpc>
            </a:pPr>
            <a:endParaRPr lang="en-US" sz="2400">
              <a:solidFill>
                <a:srgbClr val="CFE3EA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l">
              <a:lnSpc>
                <a:spcPts val="3600"/>
              </a:lnSpc>
            </a:pPr>
            <a:endParaRPr lang="en-US" sz="2400">
              <a:solidFill>
                <a:srgbClr val="CFE3EA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CFE3EA"/>
                </a:solidFill>
                <a:latin typeface="Futura"/>
                <a:ea typeface="Futura"/>
                <a:cs typeface="Futura"/>
                <a:sym typeface="Futura"/>
              </a:rPr>
              <a:t>Contributes methodological guidance on ordinal distance measure selection for future hospitality analytics research.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282160" y="9806940"/>
            <a:ext cx="685800" cy="411480"/>
            <a:chOff x="0" y="0"/>
            <a:chExt cx="91440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703320"/>
            <a:ext cx="18283428" cy="1588541"/>
            <a:chOff x="0" y="0"/>
            <a:chExt cx="24377904" cy="21180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2118055"/>
            </a:xfrm>
            <a:custGeom>
              <a:avLst/>
              <a:gdLst/>
              <a:ahLst/>
              <a:cxnLst/>
              <a:rect l="l" t="t" r="r" b="b"/>
              <a:pathLst>
                <a:path w="24377904" h="2118055">
                  <a:moveTo>
                    <a:pt x="0" y="0"/>
                  </a:moveTo>
                  <a:lnTo>
                    <a:pt x="24377904" y="0"/>
                  </a:lnTo>
                  <a:lnTo>
                    <a:pt x="24377904" y="2118055"/>
                  </a:lnTo>
                  <a:lnTo>
                    <a:pt x="0" y="2118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6775" b="-17175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4377904" cy="2118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6600" b="1">
                  <a:solidFill>
                    <a:srgbClr val="243E3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Thank You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5143500"/>
            <a:ext cx="18283428" cy="822960"/>
            <a:chOff x="0" y="0"/>
            <a:chExt cx="24377904" cy="10972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77904" cy="1097280"/>
            </a:xfrm>
            <a:custGeom>
              <a:avLst/>
              <a:gdLst/>
              <a:ahLst/>
              <a:cxnLst/>
              <a:rect l="l" t="t" r="r" b="b"/>
              <a:pathLst>
                <a:path w="24377904" h="1097280">
                  <a:moveTo>
                    <a:pt x="0" y="0"/>
                  </a:moveTo>
                  <a:lnTo>
                    <a:pt x="24377904" y="0"/>
                  </a:lnTo>
                  <a:lnTo>
                    <a:pt x="243779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2892" b="-38289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4377904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i="1">
                  <a:solidFill>
                    <a:srgbClr val="2E7D5B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Questions &amp; Discussion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189720"/>
            <a:ext cx="18283428" cy="548640"/>
            <a:chOff x="0" y="0"/>
            <a:chExt cx="24377904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77904" cy="731520"/>
            </a:xfrm>
            <a:custGeom>
              <a:avLst/>
              <a:gdLst/>
              <a:ahLst/>
              <a:cxnLst/>
              <a:rect l="l" t="t" r="r" b="b"/>
              <a:pathLst>
                <a:path w="24377904" h="731520">
                  <a:moveTo>
                    <a:pt x="0" y="0"/>
                  </a:moveTo>
                  <a:lnTo>
                    <a:pt x="24377904" y="0"/>
                  </a:lnTo>
                  <a:lnTo>
                    <a:pt x="24377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9338" b="-599338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377904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C6B73"/>
                  </a:solidFill>
                  <a:latin typeface="Futura"/>
                  <a:ea typeface="Futura"/>
                  <a:cs typeface="Futura"/>
                  <a:sym typeface="Futura"/>
                </a:rPr>
                <a:t>Vestika Weerachandra   |   COHNDDS241P-003   |   NIBM</a:t>
              </a:r>
            </a:p>
          </p:txBody>
        </p:sp>
      </p:grpSp>
      <p:sp>
        <p:nvSpPr>
          <p:cNvPr id="11" name="Freeform 11"/>
          <p:cNvSpPr/>
          <p:nvPr/>
        </p:nvSpPr>
        <p:spPr>
          <a:xfrm flipV="1">
            <a:off x="0" y="0"/>
            <a:ext cx="5752625" cy="3048891"/>
          </a:xfrm>
          <a:custGeom>
            <a:avLst/>
            <a:gdLst/>
            <a:ahLst/>
            <a:cxnLst/>
            <a:rect l="l" t="t" r="r" b="b"/>
            <a:pathLst>
              <a:path w="5752625" h="3048891">
                <a:moveTo>
                  <a:pt x="0" y="3048891"/>
                </a:moveTo>
                <a:lnTo>
                  <a:pt x="5752625" y="3048891"/>
                </a:lnTo>
                <a:lnTo>
                  <a:pt x="5752625" y="0"/>
                </a:lnTo>
                <a:lnTo>
                  <a:pt x="0" y="0"/>
                </a:lnTo>
                <a:lnTo>
                  <a:pt x="0" y="3048891"/>
                </a:lnTo>
                <a:close/>
              </a:path>
            </a:pathLst>
          </a:custGeom>
          <a:blipFill>
            <a:blip>
              <a:alphaModFix amt="8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flipH="1">
            <a:off x="13512280" y="7755869"/>
            <a:ext cx="4775720" cy="2531131"/>
          </a:xfrm>
          <a:custGeom>
            <a:avLst/>
            <a:gdLst/>
            <a:ahLst/>
            <a:cxnLst/>
            <a:rect l="l" t="t" r="r" b="b"/>
            <a:pathLst>
              <a:path w="4775720" h="2531131">
                <a:moveTo>
                  <a:pt x="4775720" y="0"/>
                </a:moveTo>
                <a:lnTo>
                  <a:pt x="0" y="0"/>
                </a:lnTo>
                <a:lnTo>
                  <a:pt x="0" y="2531131"/>
                </a:lnTo>
                <a:lnTo>
                  <a:pt x="4775720" y="2531131"/>
                </a:lnTo>
                <a:lnTo>
                  <a:pt x="4775720" y="0"/>
                </a:lnTo>
                <a:close/>
              </a:path>
            </a:pathLst>
          </a:custGeom>
          <a:blipFill>
            <a:blip>
              <a:alphaModFix amt="8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1523</Words>
  <Application>Microsoft Office PowerPoint</Application>
  <PresentationFormat>Custom</PresentationFormat>
  <Paragraphs>336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Futura Italics</vt:lpstr>
      <vt:lpstr>Arial</vt:lpstr>
      <vt:lpstr>Futura</vt:lpstr>
      <vt:lpstr>Oswald Bold</vt:lpstr>
      <vt:lpstr>Calibri</vt:lpstr>
      <vt:lpstr>Futura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Final_Project_Viva_Presentation.pptx</dc:title>
  <cp:lastModifiedBy>WEERACHANDRA V</cp:lastModifiedBy>
  <cp:revision>4</cp:revision>
  <dcterms:created xsi:type="dcterms:W3CDTF">2006-08-16T00:00:00Z</dcterms:created>
  <dcterms:modified xsi:type="dcterms:W3CDTF">2026-08-23T02:13:14Z</dcterms:modified>
  <dc:identifier>DAHTCWsiEx4</dc:identifier>
</cp:coreProperties>
</file>